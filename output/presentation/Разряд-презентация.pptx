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80e6e00307045a7" /><Relationship Type="http://schemas.openxmlformats.org/officeDocument/2006/relationships/extended-properties" Target="/docProps/app.xml" Id="R07743f3a17df4ab8" /><Relationship Type="http://schemas.openxmlformats.org/officeDocument/2006/relationships/officeDocument" Target="/ppt/presentation.xml" Id="R973f74f94731445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ca006a7698420a"/>
  </p:sldMasterIdLst>
  <p:notesMasterIdLst>
    <p:notesMasterId xmlns:r="http://schemas.openxmlformats.org/officeDocument/2006/relationships" r:id="R8a51e32e85f84a80"/>
  </p:notesMasterIdLst>
  <p:sldIdLst>
    <p:sldId xmlns:r="http://schemas.openxmlformats.org/officeDocument/2006/relationships" id="256" r:id="Reb457bcaeecc4c87"/>
    <p:sldId xmlns:r="http://schemas.openxmlformats.org/officeDocument/2006/relationships" id="257" r:id="R5a44e4f776004fb8"/>
    <p:sldId xmlns:r="http://schemas.openxmlformats.org/officeDocument/2006/relationships" id="258" r:id="R48824194d16f4505"/>
    <p:sldId xmlns:r="http://schemas.openxmlformats.org/officeDocument/2006/relationships" id="259" r:id="Rf1603c8612d543a8"/>
    <p:sldId xmlns:r="http://schemas.openxmlformats.org/officeDocument/2006/relationships" id="260" r:id="Rc434370137704899"/>
    <p:sldId xmlns:r="http://schemas.openxmlformats.org/officeDocument/2006/relationships" id="261" r:id="R8721ef02ac1d4cb9"/>
    <p:sldId xmlns:r="http://schemas.openxmlformats.org/officeDocument/2006/relationships" id="262" r:id="R78246d2c3ff84fdf"/>
    <p:sldId xmlns:r="http://schemas.openxmlformats.org/officeDocument/2006/relationships" id="263" r:id="Rf3f338573a9d4159"/>
    <p:sldId xmlns:r="http://schemas.openxmlformats.org/officeDocument/2006/relationships" id="264" r:id="Rbddcebc6d5d6450a"/>
    <p:sldId xmlns:r="http://schemas.openxmlformats.org/officeDocument/2006/relationships" id="265" r:id="Rd57c8e6faea94106"/>
    <p:sldId xmlns:r="http://schemas.openxmlformats.org/officeDocument/2006/relationships" id="266" r:id="Rfbebe4103d8748e2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11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22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32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43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554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2658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199765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6877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b90b858e5a94ed6" /><Relationship Type="http://schemas.openxmlformats.org/officeDocument/2006/relationships/slideMaster" Target="/ppt/slideMasters/slideMaster1.xml" Id="R92ca006a7698420a" /><Relationship Type="http://schemas.openxmlformats.org/officeDocument/2006/relationships/notesMaster" Target="/ppt/notesMasters/notesMaster1.xml" Id="R8a51e32e85f84a80" /><Relationship Type="http://schemas.openxmlformats.org/officeDocument/2006/relationships/presProps" Target="/ppt/presProps.xml" Id="Ra11217cacc564bd1" /><Relationship Type="http://schemas.openxmlformats.org/officeDocument/2006/relationships/viewProps" Target="/ppt/viewProps.xml" Id="Rdf25b98770484608" /><Relationship Type="http://schemas.openxmlformats.org/officeDocument/2006/relationships/tableStyles" Target="/ppt/tableStyles.xml" Id="Rd4442f936c034f41" /><Relationship Type="http://schemas.openxmlformats.org/officeDocument/2006/relationships/slide" Target="/ppt/slides/slide1.xml" Id="Reb457bcaeecc4c87" /><Relationship Type="http://schemas.openxmlformats.org/officeDocument/2006/relationships/slide" Target="/ppt/slides/slide2.xml" Id="R5a44e4f776004fb8" /><Relationship Type="http://schemas.openxmlformats.org/officeDocument/2006/relationships/slide" Target="/ppt/slides/slide3.xml" Id="R48824194d16f4505" /><Relationship Type="http://schemas.openxmlformats.org/officeDocument/2006/relationships/slide" Target="/ppt/slides/slide4.xml" Id="Rf1603c8612d543a8" /><Relationship Type="http://schemas.openxmlformats.org/officeDocument/2006/relationships/slide" Target="/ppt/slides/slide5.xml" Id="Rc434370137704899" /><Relationship Type="http://schemas.openxmlformats.org/officeDocument/2006/relationships/slide" Target="/ppt/slides/slide6.xml" Id="R8721ef02ac1d4cb9" /><Relationship Type="http://schemas.openxmlformats.org/officeDocument/2006/relationships/slide" Target="/ppt/slides/slide7.xml" Id="R78246d2c3ff84fdf" /><Relationship Type="http://schemas.openxmlformats.org/officeDocument/2006/relationships/slide" Target="/ppt/slides/slide8.xml" Id="Rf3f338573a9d4159" /><Relationship Type="http://schemas.openxmlformats.org/officeDocument/2006/relationships/slide" Target="/ppt/slides/slide9.xml" Id="Rbddcebc6d5d6450a" /><Relationship Type="http://schemas.openxmlformats.org/officeDocument/2006/relationships/slide" Target="/ppt/slides/slide10.xml" Id="Rd57c8e6faea94106" /><Relationship Type="http://schemas.openxmlformats.org/officeDocument/2006/relationships/slide" Target="/ppt/slides/slide11.xml" Id="Rfbebe4103d8748e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5587baf1f04e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e956378debf46eb" /><Relationship Type="http://schemas.openxmlformats.org/officeDocument/2006/relationships/notesMaster" Target="/ppt/notesMasters/notesMaster1.xml" Id="R70b10384b3ba43f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5aad6b83b864f81" /><Relationship Type="http://schemas.openxmlformats.org/officeDocument/2006/relationships/notesMaster" Target="/ppt/notesMasters/notesMaster1.xml" Id="R291ad5bc0ba7469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adfa2002204b93" /><Relationship Type="http://schemas.openxmlformats.org/officeDocument/2006/relationships/notesMaster" Target="/ppt/notesMasters/notesMaster1.xml" Id="R288be4be95d945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d9de98d25d14473" /><Relationship Type="http://schemas.openxmlformats.org/officeDocument/2006/relationships/notesMaster" Target="/ppt/notesMasters/notesMaster1.xml" Id="R2d37eca6317d4c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66e410ced64ca0" /><Relationship Type="http://schemas.openxmlformats.org/officeDocument/2006/relationships/notesMaster" Target="/ppt/notesMasters/notesMaster1.xml" Id="Rbd4c371037e34eb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d4d94d6c7f45ce" /><Relationship Type="http://schemas.openxmlformats.org/officeDocument/2006/relationships/notesMaster" Target="/ppt/notesMasters/notesMaster1.xml" Id="Rdc020932492b438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ebca7d082b54689" /><Relationship Type="http://schemas.openxmlformats.org/officeDocument/2006/relationships/notesMaster" Target="/ppt/notesMasters/notesMaster1.xml" Id="R151f90c0054c49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40e189586b4963" /><Relationship Type="http://schemas.openxmlformats.org/officeDocument/2006/relationships/notesMaster" Target="/ppt/notesMasters/notesMaster1.xml" Id="Rb2a15584981142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b0f6ab659104df5" /><Relationship Type="http://schemas.openxmlformats.org/officeDocument/2006/relationships/notesMaster" Target="/ppt/notesMasters/notesMaster1.xml" Id="Rd22c0dcaea2d40a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79326c4852b47b0" /><Relationship Type="http://schemas.openxmlformats.org/officeDocument/2006/relationships/notesMaster" Target="/ppt/notesMasters/notesMaster1.xml" Id="Rf2b05de7f4d14b0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f68e234866c47d8" /><Relationship Type="http://schemas.openxmlformats.org/officeDocument/2006/relationships/notesMaster" Target="/ppt/notesMasters/notesMaster1.xml" Id="Rb1383d29b86948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1.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Данные команды требуется заполнить капитану перед сдачей.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2.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Данные команды требуется заполнить капитану перед сдачей.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3.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Данные команды требуется заполнить капитану перед сдачей.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4.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Данные команды требуется заполнить капитану перед сдачей.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5.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6.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7.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8.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9.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10.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Разряд. Слайд 11. Источники: техническое задание ФСП, ответы организаторов в XLSX и группе спецтрека; реализация репозитория; ml/metrics.json. Стартовые данные синтетические. Официальная интеграция ФСП не подключена. 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65288632894297" /><Relationship Type="http://schemas.openxmlformats.org/officeDocument/2006/relationships/image" Target="/ppt/media/image2.png" Id="Ref76e351953949f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0115aaed55427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54af511d31431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ef77f2ed4c410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73a31ada03f40c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bc032883754edf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c554ecf9004fc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3e535e3a37477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d6e954d00d409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b84dec08124ad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69084a6438484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88f938f00f4c8b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e8389fbfb74d8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2b9809116d43fd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d5e97e4438407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155b5451e7443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ff5d6ef61d415f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a3116df5404ad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35ff1e313244f7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4b060f82e040a4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8b24ab3f074be5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a00310ca5648ba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4d75c9808114107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ef76e351953949f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02.10.2026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02.10.2026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02.10.2026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02.10.2026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02.10.2026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02.10.2026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68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92F18112-C9A2-4622-AA4F-DB53E4DCF5D5}"/>
              </a:ext>
            </a:extLst>
          </p:cNvPr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ED50C6C2-B422-4EA8-8E44-80634BE66D68}"/>
              </a:ext>
            </a:extLst>
          </p:cNvPr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095525BF-E5D9-4A23-B69E-7EE1BF8CD739}"/>
              </a:ext>
            </a:extLst>
          </p:cNvPr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0713AB32-8CE5-4ABE-8CFD-8C45C531DA7A}"/>
              </a:ext>
            </a:extLst>
          </p:cNvPr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02.10.2026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cf2ea85f6b746d4" /><Relationship Type="http://schemas.openxmlformats.org/officeDocument/2006/relationships/theme" Target="/ppt/slideMasters/theme/theme2.xml" Id="Re1e18ec0d356437c" /><Relationship Type="http://schemas.openxmlformats.org/officeDocument/2006/relationships/slideLayout" Target="/ppt/slideLayouts/slideLayout1.xml" Id="R5c2152d4073f4ac3" /><Relationship Type="http://schemas.openxmlformats.org/officeDocument/2006/relationships/slideLayout" Target="/ppt/slideLayouts/slideLayout2.xml" Id="Rb1ba484b0c244c66" /><Relationship Type="http://schemas.openxmlformats.org/officeDocument/2006/relationships/slideLayout" Target="/ppt/slideLayouts/slideLayout3.xml" Id="Rad52ded608ba48cf" /><Relationship Type="http://schemas.openxmlformats.org/officeDocument/2006/relationships/slideLayout" Target="/ppt/slideLayouts/slideLayout4.xml" Id="R97133ea98bfa48b8" /><Relationship Type="http://schemas.openxmlformats.org/officeDocument/2006/relationships/slideLayout" Target="/ppt/slideLayouts/slideLayout5.xml" Id="R3a43c651418d43b1" /><Relationship Type="http://schemas.openxmlformats.org/officeDocument/2006/relationships/slideLayout" Target="/ppt/slideLayouts/slideLayout6.xml" Id="R065c32907ef54f1c" /><Relationship Type="http://schemas.openxmlformats.org/officeDocument/2006/relationships/slideLayout" Target="/ppt/slideLayouts/slideLayout7.xml" Id="R3655294d263c4d82" /><Relationship Type="http://schemas.openxmlformats.org/officeDocument/2006/relationships/slideLayout" Target="/ppt/slideLayouts/slideLayout8.xml" Id="Rb4e2a0df00df4c62" /><Relationship Type="http://schemas.openxmlformats.org/officeDocument/2006/relationships/slideLayout" Target="/ppt/slideLayouts/slideLayout9.xml" Id="Recf1b087f7214a41" /><Relationship Type="http://schemas.openxmlformats.org/officeDocument/2006/relationships/slideLayout" Target="/ppt/slideLayouts/slideLayout10.xml" Id="R7f6ba9d1f5074a8c" /><Relationship Type="http://schemas.openxmlformats.org/officeDocument/2006/relationships/slideLayout" Target="/ppt/slideLayouts/slideLayout11.xml" Id="R9e87fb07db0849cf" /><Relationship Type="http://schemas.openxmlformats.org/officeDocument/2006/relationships/slideLayout" Target="/ppt/slideLayouts/slideLayout12.xml" Id="R5f83733ff1444954" /><Relationship Type="http://schemas.openxmlformats.org/officeDocument/2006/relationships/slideLayout" Target="/ppt/slideLayouts/slideLayout13.xml" Id="R1d220cad52794384" /><Relationship Type="http://schemas.openxmlformats.org/officeDocument/2006/relationships/slideLayout" Target="/ppt/slideLayouts/slideLayout14.xml" Id="Rfc403ac5a57a4527" /><Relationship Type="http://schemas.openxmlformats.org/officeDocument/2006/relationships/slideLayout" Target="/ppt/slideLayouts/slideLayout15.xml" Id="Rb0cb79e5aa7646cd" /><Relationship Type="http://schemas.openxmlformats.org/officeDocument/2006/relationships/slideLayout" Target="/ppt/slideLayouts/slideLayout16.xml" Id="R13cb12c4150d44d9" /><Relationship Type="http://schemas.openxmlformats.org/officeDocument/2006/relationships/slideLayout" Target="/ppt/slideLayouts/slideLayout17.xml" Id="R75172208d52f4d05" /><Relationship Type="http://schemas.openxmlformats.org/officeDocument/2006/relationships/slideLayout" Target="/ppt/slideLayouts/slideLayout18.xml" Id="R51fca3aeeed34705" /><Relationship Type="http://schemas.openxmlformats.org/officeDocument/2006/relationships/slideLayout" Target="/ppt/slideLayouts/slideLayout19.xml" Id="Rdc7badd7595a4cec" /><Relationship Type="http://schemas.openxmlformats.org/officeDocument/2006/relationships/slideLayout" Target="/ppt/slideLayouts/slideLayout20.xml" Id="R708b1538e03a4d24" /><Relationship Type="http://schemas.openxmlformats.org/officeDocument/2006/relationships/slideLayout" Target="/ppt/slideLayouts/slideLayout21.xml" Id="R413504f52ca04022" /><Relationship Type="http://schemas.openxmlformats.org/officeDocument/2006/relationships/slideLayout" Target="/ppt/slideLayouts/slideLayout22.xml" Id="Ra32f0876f4214f72" /><Relationship Type="http://schemas.openxmlformats.org/officeDocument/2006/relationships/slideLayout" Target="/ppt/slideLayouts/slideLayout23.xml" Id="Raab1af7a46c24851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cf2ea85f6b746d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02.10.2026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2152d4073f4ac3"/>
    <p:sldLayoutId xmlns:r="http://schemas.openxmlformats.org/officeDocument/2006/relationships" id="2147483650" r:id="Rb1ba484b0c244c66"/>
    <p:sldLayoutId xmlns:r="http://schemas.openxmlformats.org/officeDocument/2006/relationships" id="2147483651" r:id="Rad52ded608ba48cf"/>
    <p:sldLayoutId xmlns:r="http://schemas.openxmlformats.org/officeDocument/2006/relationships" id="2147483652" r:id="R97133ea98bfa48b8"/>
    <p:sldLayoutId xmlns:r="http://schemas.openxmlformats.org/officeDocument/2006/relationships" id="2147483653" r:id="R3a43c651418d43b1"/>
    <p:sldLayoutId xmlns:r="http://schemas.openxmlformats.org/officeDocument/2006/relationships" id="2147483654" r:id="R065c32907ef54f1c"/>
    <p:sldLayoutId xmlns:r="http://schemas.openxmlformats.org/officeDocument/2006/relationships" id="2147483655" r:id="R3655294d263c4d82"/>
    <p:sldLayoutId xmlns:r="http://schemas.openxmlformats.org/officeDocument/2006/relationships" id="2147483656" r:id="Rb4e2a0df00df4c62"/>
    <p:sldLayoutId xmlns:r="http://schemas.openxmlformats.org/officeDocument/2006/relationships" id="2147483657" r:id="Recf1b087f7214a41"/>
    <p:sldLayoutId xmlns:r="http://schemas.openxmlformats.org/officeDocument/2006/relationships" id="2147483658" r:id="R7f6ba9d1f5074a8c"/>
    <p:sldLayoutId xmlns:r="http://schemas.openxmlformats.org/officeDocument/2006/relationships" id="2147483659" r:id="R9e87fb07db0849cf"/>
    <p:sldLayoutId xmlns:r="http://schemas.openxmlformats.org/officeDocument/2006/relationships" id="2147483660" r:id="R5f83733ff1444954"/>
    <p:sldLayoutId xmlns:r="http://schemas.openxmlformats.org/officeDocument/2006/relationships" id="2147483661" r:id="R1d220cad52794384"/>
    <p:sldLayoutId xmlns:r="http://schemas.openxmlformats.org/officeDocument/2006/relationships" id="2147483662" r:id="Rfc403ac5a57a4527"/>
    <p:sldLayoutId xmlns:r="http://schemas.openxmlformats.org/officeDocument/2006/relationships" id="2147483663" r:id="Rb0cb79e5aa7646cd"/>
    <p:sldLayoutId xmlns:r="http://schemas.openxmlformats.org/officeDocument/2006/relationships" id="2147483664" r:id="R13cb12c4150d44d9"/>
    <p:sldLayoutId xmlns:r="http://schemas.openxmlformats.org/officeDocument/2006/relationships" id="2147483665" r:id="R75172208d52f4d05"/>
    <p:sldLayoutId xmlns:r="http://schemas.openxmlformats.org/officeDocument/2006/relationships" id="2147483666" r:id="R51fca3aeeed34705"/>
    <p:sldLayoutId xmlns:r="http://schemas.openxmlformats.org/officeDocument/2006/relationships" id="2147483667" r:id="Rdc7badd7595a4cec"/>
    <p:sldLayoutId xmlns:r="http://schemas.openxmlformats.org/officeDocument/2006/relationships" id="2147483668" r:id="R708b1538e03a4d24"/>
    <p:sldLayoutId xmlns:r="http://schemas.openxmlformats.org/officeDocument/2006/relationships" id="2147483669" r:id="R413504f52ca04022"/>
    <p:sldLayoutId xmlns:r="http://schemas.openxmlformats.org/officeDocument/2006/relationships" id="2147483670" r:id="Ra32f0876f4214f72"/>
    <p:sldLayoutId xmlns:r="http://schemas.openxmlformats.org/officeDocument/2006/relationships" id="2147483671" r:id="Raab1af7a46c24851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ee8c9227ee4ff2" /><Relationship Type="http://schemas.openxmlformats.org/officeDocument/2006/relationships/image" Target="/ppt/media/image3.png" Id="R6757ca32f454474e" /><Relationship Type="http://schemas.openxmlformats.org/officeDocument/2006/relationships/notesSlide" Target="/ppt/notesSlides/notesSlide1.xml" Id="R55e10e633147498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a5e8d850e5a4a82" /><Relationship Type="http://schemas.openxmlformats.org/officeDocument/2006/relationships/image" Target="/ppt/media/image4.png" Id="Rd85d2b2140e743a3" /><Relationship Type="http://schemas.openxmlformats.org/officeDocument/2006/relationships/notesSlide" Target="/ppt/notesSlides/notesSlide2.xml" Id="R8564530457a240b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fef92365df241ab" /><Relationship Type="http://schemas.openxmlformats.org/officeDocument/2006/relationships/image" Target="/ppt/media/image.png" Id="R22a471c16ad04008" /><Relationship Type="http://schemas.openxmlformats.org/officeDocument/2006/relationships/notesSlide" Target="/ppt/notesSlides/notesSlide3.xml" Id="R774e317e996b47c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2082a9a5e5a4f70" /><Relationship Type="http://schemas.openxmlformats.org/officeDocument/2006/relationships/image" Target="/ppt/media/image5.png" Id="Ra79e1dee9dbc494d" /><Relationship Type="http://schemas.openxmlformats.org/officeDocument/2006/relationships/notesSlide" Target="/ppt/notesSlides/notesSlide4.xml" Id="R18c379eb18ad45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d75d384c87d543ac" /><Relationship Type="http://schemas.openxmlformats.org/officeDocument/2006/relationships/image" Target="/ppt/media/image.png" Id="R76fa17870fbc49f1" /><Relationship Type="http://schemas.openxmlformats.org/officeDocument/2006/relationships/notesSlide" Target="/ppt/notesSlides/notesSlide5.xml" Id="R880d2a48ee4348d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326e36f19304a56" /><Relationship Type="http://schemas.openxmlformats.org/officeDocument/2006/relationships/image" Target="/ppt/media/image.png" Id="R5ff21d8af96b4d70" /><Relationship Type="http://schemas.openxmlformats.org/officeDocument/2006/relationships/image" Target="/ppt/media/image6.png" Id="R405c266623bf4828" /><Relationship Type="http://schemas.openxmlformats.org/officeDocument/2006/relationships/notesSlide" Target="/ppt/notesSlides/notesSlide6.xml" Id="Rfa596d10272f4b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b90f22ceaff1487e" /><Relationship Type="http://schemas.openxmlformats.org/officeDocument/2006/relationships/image" Target="/ppt/media/image4.png" Id="Rab17fd1b5ce64ca3" /><Relationship Type="http://schemas.openxmlformats.org/officeDocument/2006/relationships/notesSlide" Target="/ppt/notesSlides/notesSlide7.xml" Id="R7cb8022d2c544a4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17da7b613764c71" /><Relationship Type="http://schemas.openxmlformats.org/officeDocument/2006/relationships/image" Target="/ppt/media/image5.png" Id="Rae3b79f2cbf54b61" /><Relationship Type="http://schemas.openxmlformats.org/officeDocument/2006/relationships/notesSlide" Target="/ppt/notesSlides/notesSlide8.xml" Id="R279e647f3abd48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df8984dcf164a21" /><Relationship Type="http://schemas.openxmlformats.org/officeDocument/2006/relationships/image" Target="/ppt/media/image5.png" Id="R5e60eb4d9c9547d4" /><Relationship Type="http://schemas.openxmlformats.org/officeDocument/2006/relationships/notesSlide" Target="/ppt/notesSlides/notesSlide9.xml" Id="Rb636a830d41b4b2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bce91decde347e7" /><Relationship Type="http://schemas.openxmlformats.org/officeDocument/2006/relationships/image" Target="/ppt/media/image5.png" Id="Rce74ff401edc4107" /><Relationship Type="http://schemas.openxmlformats.org/officeDocument/2006/relationships/notesSlide" Target="/ppt/notesSlides/notesSlide10.xml" Id="R7cf0095990624ed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0.xml" Id="Ra11a0fdd28a34ffb" /><Relationship Type="http://schemas.openxmlformats.org/officeDocument/2006/relationships/image" Target="/ppt/media/image4.png" Id="R1e0fe2a28022413f" /><Relationship Type="http://schemas.openxmlformats.org/officeDocument/2006/relationships/image" Target="/ppt/media/image7.png" Id="R317bfc7163904b8d" /><Relationship Type="http://schemas.openxmlformats.org/officeDocument/2006/relationships/image" Target="/ppt/media/image8.png" Id="R7a050e8736fc4c9d" /><Relationship Type="http://schemas.openxmlformats.org/officeDocument/2006/relationships/notesSlide" Target="/ppt/notesSlides/notesSlide11.xml" Id="R7ecaa5c3b848489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268288" indent="0">
              <a:buNone/>
              <a:def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РАЗРЯД</a:t>
            </a:r>
            <a:endParaRPr sz="4800"/>
          </a:p>
          <a:p xmlns:a="http://schemas.openxmlformats.org/drawingml/2006/main">
            <a:pPr marL="268288" indent="0">
              <a:buNone/>
              <a:def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3450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Навыки говорят за вас</a:t>
            </a:r>
            <a:endParaRPr sz="4800"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271463" indent="-3175">
              <a:buNone/>
            </a:pPr>
            <a:r>
              <a:t>Цифровая платформа-агрегатор ИТ-вакансий </a:t>
            </a:r>
            <a:br/>
            <a:r>
              <a:t>с верифицированным профилем достижений </a:t>
            </a:r>
            <a:br/>
            <a:r>
              <a:t>участника Федерации спортивного программирования (ФСП)</a:t>
            </a: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AE98A540-ACF3-4619-B24D-B2E5DC29A1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7ca32f45447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075" y="631174"/>
            <a:ext cx="4905194" cy="6200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85d2b2140e743a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Рисунок 1">
            <a:extLst xmlns:a="http://schemas.openxmlformats.org/drawingml/2006/main"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335267"/>
            <a:ext cx="6456363" cy="2971784"/>
          </a:xfrm>
        </p:spPr>
      </p:sp>
      <p:sp>
        <p:nvSpPr>
          <p:cNvPr id="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Краткое описание решения:</a:t>
            </a:r>
          </a:p>
        </p:txBody>
      </p:sp>
      <p:sp>
        <p:nvSpPr>
          <p:cNvPr id="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606" y="4876070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Тест задаёт категорию. Подбор объясняет совпадения. Контакты открываются только выбранной компании.</a:t>
            </a:r>
          </a:p>
        </p:txBody>
      </p:sp>
      <p:sp>
        <p:nvSpPr>
          <p:cNvPr id="1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883009"/>
            <a:ext cx="5629858" cy="23990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Капитан: данные не предоставлены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Состав и роли: уточняет капитан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Город и регион: не указаны</a:t>
            </a:r>
          </a:p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Tx/>
              <a:buChar char="-"/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 i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Перед сдачей необходимо заполнить сведения о команде и контакты.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О команде</a:t>
            </a:r>
          </a:p>
        </p:txBody>
      </p:sp>
      <p:sp>
        <p:nvSpPr>
          <p:cNvPr id="18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9903" y="1039236"/>
            <a:ext cx="3636703" cy="1015128"/>
          </a:xfrm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ПРОЕКТ «РАЗРЯД»</a:t>
            </a:r>
            <a:endParaRPr sz="2400">
              <a:solidFill>
                <a:schemeClr val="accent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8C472A22-BA5A-465C-9DC9-3327D031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8D96230B-037B-4FCC-97FC-F769C9AC7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8A8F10E7-04FF-4B3F-A0A5-CE4A83F0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>Уникальность решения:</a:t>
            </a:r>
          </a:p>
        </p:txBody>
      </p:sp>
      <p:sp>
        <p:nvSpPr>
          <p:cNvPr id="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027" y="2619903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  <a:def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Проверенный уровень помогает компании найти специалиста и предложить работу с открытой зарплатой.</a:t>
            </a:r>
          </a:p>
        </p:txBody>
      </p:sp>
      <p:sp>
        <p:nvSpPr>
          <p:cNvPr id="10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E2598689-54C9-18A7-3A19-ED76AA08988F}" type="slidenum">
              <a:rPr sz="1200">
                <a:solidFill>
                  <a:schemeClr val="accent5"/>
                </a:solidFill>
              </a:rPr>
              <a:t>2</a:t>
            </a:fld>
            <a:endParaRPr sz="1200">
              <a:solidFill>
                <a:schemeClr val="accent5"/>
              </a:solidFill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27E058-4BB5-44CE-AC8D-EBFF893E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4286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746B7C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746B7C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746B7C"/>
                </a:solidFill>
                <a:latin typeface="Montserrat"/>
                <a:ea typeface="Montserrat"/>
                <a:cs typeface="Montserrat"/>
              </a:rPr>
              <a:t>Фото и состав команды</a:t>
            </a:r>
          </a:p>
          <a:p xmlns:a="http://schemas.openxmlformats.org/drawingml/2006/main">
            <a:pPr>
              <a:defRPr sz="1650" b="0">
                <a:solidFill>
                  <a:srgbClr val="746B7C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746B7C"/>
                </a:solidFill>
                <a:latin typeface="Montserrat"/>
                <a:ea typeface="Montserrat"/>
                <a:cs typeface="Montserrat"/>
              </a:rPr>
              <a:t>добавляет капитан</a:t>
            </a: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22a471c16ad0400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394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8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ФИО, роль и контакты заполняет капитан перед отправкой.</a:t>
            </a:r>
          </a:p>
        </p:txBody>
      </p:sp>
      <p:sp>
        <p:nvSpPr>
          <p:cNvPr id="5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7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Данные</a:t>
            </a:r>
          </a:p>
          <a:p xmlns:a="http://schemas.openxmlformats.org/drawingml/2006/main">
            <a:pPr marL="0" indent="0">
              <a:buNone/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участника</a:t>
            </a:r>
          </a:p>
        </p:txBody>
      </p:sp>
      <p:sp>
        <p:nvSpPr>
          <p:cNvPr id="59" name="Скругленный прямоугольник 58">
            <a:extLst xmlns:a="http://schemas.openxmlformats.org/drawingml/2006/main"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712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996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ФИО, роль и контакты заполняет капитан перед отправкой.</a:t>
            </a:r>
          </a:p>
        </p:txBody>
      </p:sp>
      <p:sp>
        <p:nvSpPr>
          <p:cNvPr id="6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995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Данные</a:t>
            </a:r>
          </a:p>
          <a:p xmlns:a="http://schemas.openxmlformats.org/drawingml/2006/main">
            <a:pPr marL="0" indent="0">
              <a:buNone/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участника</a:t>
            </a:r>
          </a:p>
        </p:txBody>
      </p:sp>
      <p:sp>
        <p:nvSpPr>
          <p:cNvPr id="62" name="Скругленный прямоугольник 61">
            <a:extLst xmlns:a="http://schemas.openxmlformats.org/drawingml/2006/main"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031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315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ФИО, роль и контакты заполняет капитан перед отправкой.</a:t>
            </a:r>
          </a:p>
        </p:txBody>
      </p:sp>
      <p:sp>
        <p:nvSpPr>
          <p:cNvPr id="6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314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Данные</a:t>
            </a:r>
          </a:p>
          <a:p xmlns:a="http://schemas.openxmlformats.org/drawingml/2006/main">
            <a:pPr marL="0" indent="0">
              <a:buNone/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участника</a:t>
            </a:r>
          </a:p>
        </p:txBody>
      </p:sp>
      <p:sp>
        <p:nvSpPr>
          <p:cNvPr id="65" name="Скругленный прямоугольник 64">
            <a:extLst xmlns:a="http://schemas.openxmlformats.org/drawingml/2006/main"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349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633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ФИО, роль и контакты заполняет капитан перед отправкой.</a:t>
            </a:r>
          </a:p>
        </p:txBody>
      </p:sp>
      <p:sp>
        <p:nvSpPr>
          <p:cNvPr id="6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632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Данные</a:t>
            </a:r>
          </a:p>
          <a:p xmlns:a="http://schemas.openxmlformats.org/drawingml/2006/main">
            <a:pPr marL="0" indent="0">
              <a:buNone/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участника</a:t>
            </a: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rPr>
                <a:solidFill>
                  <a:schemeClr val="bg1"/>
                </a:solidFill>
              </a:rPr>
              <a:t>3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 xmlns:a="http://schemas.openxmlformats.org/drawingml/2006/main">
              <a:ext uri="{FF2B5EF4-FFF2-40B4-BE49-F238E27FC236}">
                <a16:creationId xmlns:a16="http://schemas.microsoft.com/office/drawing/2014/main" id="{4C94D4FF-301C-477D-8018-73C5CC99D493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581397" y="1816054"/>
            <a:ext cx="1722566" cy="1552901"/>
          </a:xfrm>
        </p:spPr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2886467" y="1826554"/>
            <a:ext cx="1722566" cy="1542401"/>
          </a:xfrm>
        </p:spPr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5191784" y="1809238"/>
            <a:ext cx="1722567" cy="1559717"/>
          </a:xfrm>
        </p:spPr>
      </p:sp>
      <p:sp>
        <p:nvSpPr>
          <p:cNvPr id="5" name="Рисунок 4">
            <a:extLst xmlns:a="http://schemas.openxmlformats.org/drawingml/2006/main"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7520208" y="1809238"/>
            <a:ext cx="1722567" cy="1559717"/>
          </a:xfrm>
        </p:spPr>
      </p:sp>
      <p:sp>
        <p:nvSpPr>
          <p:cNvPr id="6" name="Рисунок 5">
            <a:extLst xmlns:a="http://schemas.openxmlformats.org/drawingml/2006/main"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9802422" y="1809238"/>
            <a:ext cx="1722566" cy="1559717"/>
          </a:xfrm>
        </p:spPr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835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ПРОЕКТА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18360" y="4250028"/>
            <a:ext cx="1894354" cy="1624612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  <a:def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ФИО, роль и контакты заполняет капитан перед отправкой.</a:t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9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Данные</a:t>
            </a:r>
          </a:p>
          <a:p xmlns:a="http://schemas.openxmlformats.org/drawingml/2006/main">
            <a:pPr marL="0" indent="0">
              <a:buNone/>
              <a:def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участника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79e1dee9dbc494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rPr>
                <a:solidFill>
                  <a:schemeClr val="accent5"/>
                </a:solidFill>
              </a:rPr>
              <a:t>4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784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 ПРОЕКТЕ И КОМАНДЕ</a:t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33607" y="1602273"/>
            <a:ext cx="4425822" cy="934263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История команды будет добавлена капитаном. Подтверждённых сведений об участниках пока нет.</a:t>
            </a:r>
          </a:p>
        </p:txBody>
      </p:sp>
      <p:sp>
        <p:nvSpPr>
          <p:cNvPr id="3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127964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Краткая история команды:</a:t>
            </a:r>
          </a:p>
        </p:txBody>
      </p:sp>
      <p:sp>
        <p:nvSpPr>
          <p:cNvPr id="4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5139255"/>
            <a:ext cx="7318749" cy="10553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defPPr>
              <a:def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Нет API ФСП — создан маркированный демореестр. Нет размеченных данных — проведена воспроизводимая оценка на синтетике. Доступ к контактам проверяется отдельно для каждой компании.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8" y="4571473"/>
            <a:ext cx="6438692" cy="6290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>С какими основными сложностями или вызовами </a:t>
            </a:r>
            <a:br>
              <a:rPr b="1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вы столкнулись и как их преодолели?</a:t>
            </a:r>
          </a:p>
        </p:txBody>
      </p:sp>
      <p:sp>
        <p:nvSpPr>
          <p:cNvPr id="4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3429000"/>
            <a:ext cx="4945565" cy="10785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 fontScale="100000"/>
          </a:bodyPr>
          <a:lstStyle xmlns:a="http://schemas.openxmlformats.org/drawingml/2006/main">
            <a:defPPr>
              <a:def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  <a:def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Задача продукта — связать проверяемые навыки с конкретными предложениями компаний.</a:t>
            </a:r>
          </a:p>
        </p:txBody>
      </p:sp>
      <p:sp>
        <p:nvSpPr>
          <p:cNvPr id="4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2900091"/>
            <a:ext cx="5629858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Почему вы выбрали именно эту задачу </a:t>
            </a:r>
            <a:br>
              <a:rPr b="1">
                <a:solidFill>
                  <a:schemeClr val="accent5"/>
                </a:solidFill>
              </a:rPr>
            </a:br>
            <a:r>
              <a:rPr b="1">
                <a:solidFill>
                  <a:schemeClr val="accent5"/>
                </a:solidFill>
              </a:rPr>
              <a:t>из предложенных на хакатоне?</a:t>
            </a:r>
          </a:p>
        </p:txBody>
      </p:sp>
      <p:sp>
        <p:nvSpPr>
          <p:cNvPr id="5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E5B4AB2B-D103-40CC-935B-4A2D0393D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1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3BDEE337-A28B-407C-8E6D-248E36F1F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6B035D65-67B6-4196-8853-EC2D4B88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>01</a:t>
            </a:r>
          </a:p>
        </p:txBody>
      </p:sp>
      <p:sp>
        <p:nvSpPr>
          <p:cNvPr id="1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02</a:t>
            </a:r>
          </a:p>
        </p:txBody>
      </p:sp>
      <p:sp>
        <p:nvSpPr>
          <p:cNvPr id="1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6fa17870fbc49f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2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rPr>
                <a:solidFill>
                  <a:schemeClr val="bg1"/>
                </a:solidFill>
              </a:rPr>
              <a:t>5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89493" y="1920927"/>
            <a:ext cx="4929861" cy="3868581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Next.js + Tailwind: два кабинета и мобильный интерфейс.</a:t>
            </a:r>
          </a:p>
          <a:p xmlns:a="http://schemas.openxmlformats.org/drawingml/2006/main">
            <a:pPr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FastAPI + SQLAlchemy: профили, тесты, вакансии, приглашения и согласия.</a:t>
            </a:r>
          </a:p>
          <a:p xmlns:a="http://schemas.openxmlformats.org/drawingml/2006/main">
            <a:pPr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PostgreSQL в Docker; SQLite для локального демо.</a:t>
            </a:r>
          </a:p>
          <a:p xmlns:a="http://schemas.openxmlformats.org/drawingml/2006/main">
            <a:pPr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Параметризованный банк тестов и CPU-модель ранжирования.</a:t>
            </a:r>
          </a:p>
          <a:p xmlns:a="http://schemas.openxmlformats.org/drawingml/2006/main">
            <a:pPr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ФСП: демореестр; официальный контур требует API и OIDC.</a:t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3513" y="1920927"/>
            <a:ext cx="4957144" cy="3876445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>
            <a:defPPr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Специалисту: показать подтверждённые навыки и выбрать предложение с известной зарплатой.</a:t>
            </a:r>
          </a:p>
          <a:p xmlns:a="http://schemas.openxmlformats.org/drawingml/2006/main">
            <a:pPr marL="0" indent="0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Компании: искать внутри проверенной категории, сравнивать доказательства и приглашать без публикации вакансии.</a:t>
            </a:r>
            <a:endParaRPr sz="1400">
              <a:solidFill>
                <a:schemeClr val="tx1"/>
              </a:solidFill>
            </a:endParaRPr>
          </a:p>
          <a:p xmlns:a="http://schemas.openxmlformats.org/drawingml/2006/main">
            <a:pPr marL="0" indent="0">
              <a:buNone/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Развитие: пилот с ФСП и компаниями, калибровка банка задач, затем ATS и расширение специализаций.</a:t>
            </a:r>
            <a:endParaRPr sz="1400"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КОРОТКО О РЕШЕНИИ</a:t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Техническая суть решения</a:t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>Маркетинговая суть решения</a:t>
            </a:r>
          </a:p>
          <a:p xmlns:a="http://schemas.openxmlformats.org/drawingml/2006/main">
            <a:pPr>
              <a:lnSpc>
                <a:spcPct val="100000"/>
              </a:lnSpc>
              <a:buNone/>
            </a:pPr>
            <a:endParaRPr b="1">
              <a:solidFill>
                <a:schemeClr val="accent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ff21d8af96b4d7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Скругленный прямоугольник 3">
            <a:extLst xmlns:a="http://schemas.openxmlformats.org/drawingml/2006/main">
              <a:ext uri="{FF2B5EF4-FFF2-40B4-BE49-F238E27FC236}">
                <a16:creationId xmlns:a16="http://schemas.microsoft.com/office/drawing/2014/main" id="{6080F467-69D9-0742-2978-0590E2BF4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170" y="1304256"/>
            <a:ext cx="11541659" cy="5052102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227ECECA-D19C-BF71-E687-EC21A327371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3888" y="1556279"/>
            <a:ext cx="10789619" cy="37454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D48EA9B5-E41A-C397-3CFE-F967E98FC76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rPr>
                <a:solidFill>
                  <a:schemeClr val="bg1"/>
                </a:solidFill>
              </a:rPr>
              <a:t>6</a:t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F975DC-7FFC-8C16-7A6D-78D26FCBD5B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104" y="414049"/>
            <a:ext cx="5994696" cy="55206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3600">
              <a:solidFill>
                <a:schemeClr val="bg1"/>
              </a:solidFill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7C564E-2EC8-4250-99EF-855B7A266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8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ПОДБОР ПО ПОДТВЕРЖДЁННЫМ НАВЫКАМ</a:t>
            </a:r>
          </a:p>
        </p:txBody>
      </p:sp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085095-DF6A-47A5-B575-89E6C860F3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5c266623bf4828"/>
          <a:stretch xmlns:a="http://schemas.openxmlformats.org/drawingml/2006/main"/>
        </p:blipFill>
        <p:spPr>
          <a:xfrm xmlns:a="http://schemas.openxmlformats.org/drawingml/2006/main">
            <a:off x="1110234" y="1400175"/>
            <a:ext cx="6542532" cy="4543425"/>
          </a:xfrm>
          <a:prstGeom xmlns:a="http://schemas.openxmlformats.org/drawingml/2006/main" prst="rect">
            <a:avLst/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79CC62-0BCE-4116-AA03-98CC9805F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1762125"/>
            <a:ext cx="2857500" cy="3762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01  Категория</a:t>
            </a:r>
          </a:p>
          <a:p xmlns:a="http://schemas.openxmlformats.org/drawingml/2006/main">
            <a:pPr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Специализация и грейд</a:t>
            </a:r>
          </a:p>
          <a:p xmlns:a="http://schemas.openxmlformats.org/drawingml/2006/main">
            <a:pPr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02  Доказательства</a:t>
            </a:r>
          </a:p>
          <a:p xmlns:a="http://schemas.openxmlformats.org/drawingml/2006/main">
            <a:pPr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Тест, стек, история ФСП</a:t>
            </a:r>
          </a:p>
          <a:p xmlns:a="http://schemas.openxmlformats.org/drawingml/2006/main">
            <a:pPr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03  Предложение</a:t>
            </a:r>
          </a:p>
          <a:p xmlns:a="http://schemas.openxmlformats.org/drawingml/2006/main">
            <a:pPr>
              <a:def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Зарплата до знакомства</a:t>
            </a:r>
          </a:p>
        </p:txBody>
      </p:sp>
    </p:spTree>
    <p:extLst>
      <p:ext uri="{BB962C8B-B14F-4D97-AF65-F5344CB8AC3E}">
        <p14:creationId xmlns:p14="http://schemas.microsoft.com/office/powerpoint/2010/main" val="2320403279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b17fd1b5ce64ca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Заголовок 5">
            <a:extLst xmlns:a="http://schemas.openxmlformats.org/drawingml/2006/main">
              <a:ext uri="{FF2B5EF4-FFF2-40B4-BE49-F238E27FC236}">
                <a16:creationId xmlns:a16="http://schemas.microsoft.com/office/drawing/2014/main" id="{80060758-64A6-F41E-1825-51ECED5214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33490" y="370426"/>
            <a:ext cx="5562510" cy="4423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2000">
              <a:solidFill>
                <a:schemeClr val="accent5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52DB1C19-1756-5691-5F80-177F3A79D35E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521133" y="1695025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40CC1337-8037-C8D6-4F63-245C2AF4E7A2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521133" y="2552035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35A27D79-7CA2-000D-5EC5-DB6887DB4E4B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521133" y="3409044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49701722-A703-6CF6-2014-059F040DC58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521133" y="4266053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DE50EEA6-DEC5-5666-7D6D-27F8E37664B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521133" y="5123063"/>
            <a:ext cx="4902200" cy="71258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311126D8-C4EA-ED36-FA09-D0ED6388C8B6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441475" y="6356350"/>
            <a:ext cx="558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rPr>
                <a:solidFill>
                  <a:schemeClr val="accent5"/>
                </a:solidFill>
              </a:rPr>
              <a:t>7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Прямая соединительная линия 1">
            <a:extLst xmlns:a="http://schemas.openxmlformats.org/drawingml/2006/main">
              <a:ext uri="{FF2B5EF4-FFF2-40B4-BE49-F238E27FC236}">
                <a16:creationId xmlns:a16="http://schemas.microsoft.com/office/drawing/2014/main" id="{D4E04097-6F16-498A-9A7F-CAE923C4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1604660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Прямая соединительная линия 3">
            <a:extLst xmlns:a="http://schemas.openxmlformats.org/drawingml/2006/main">
              <a:ext uri="{FF2B5EF4-FFF2-40B4-BE49-F238E27FC236}">
                <a16:creationId xmlns:a16="http://schemas.microsoft.com/office/drawing/2014/main" id="{609405CC-43D0-479D-B2F8-E4E950A8E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2465535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Прямая соединительная линия 12">
            <a:extLst xmlns:a="http://schemas.openxmlformats.org/drawingml/2006/main">
              <a:ext uri="{FF2B5EF4-FFF2-40B4-BE49-F238E27FC236}">
                <a16:creationId xmlns:a16="http://schemas.microsoft.com/office/drawing/2014/main" id="{CB4C478B-C44C-47BC-B045-0827393F5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3342865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Прямая соединительная линия 13">
            <a:extLst xmlns:a="http://schemas.openxmlformats.org/drawingml/2006/main">
              <a:ext uri="{FF2B5EF4-FFF2-40B4-BE49-F238E27FC236}">
                <a16:creationId xmlns:a16="http://schemas.microsoft.com/office/drawing/2014/main" id="{79847128-82BB-49EC-9A45-ABA529589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4183125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Прямая соединительная линия 14">
            <a:extLst xmlns:a="http://schemas.openxmlformats.org/drawingml/2006/main">
              <a:ext uri="{FF2B5EF4-FFF2-40B4-BE49-F238E27FC236}">
                <a16:creationId xmlns:a16="http://schemas.microsoft.com/office/drawing/2014/main" id="{7E52ED00-3287-4D93-A94D-64AB779E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133" y="5048098"/>
            <a:ext cx="11335905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1066C6-6F5B-4426-8278-55B26EEC8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8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АРХИТЕКТУРА И ГРАНИЦЫ ДОВЕРИЯ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4FCD1D-1403-44AA-A550-2722D202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7165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Интерфейс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4DA50F-A2D7-4D8D-806D-C1504A1D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71650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Next.js → единый origin → /api/v1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FFD99F-51F6-4215-97F8-A12B8345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38425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Доступ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516528-202B-494D-847E-C53D24586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638425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HttpOnly-сессия, роли, подтверждение почты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EBFDA0-81F4-453E-8CB5-82A306BCB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0520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Домен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E0FC57C-C268-4EFB-8584-DB095B0E2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505200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Тест → категория → подбор → приглашение → согласие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8E66F6-F645-41F2-89B8-DC0DB405F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71975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Хранилище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FD8E39F-343D-402F-A4F2-55C24DF2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371975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PostgreSQL / SQLite, уникальность, транзакции, аудит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1A64602-3FE8-4923-BC67-FFAFBF7B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38750"/>
            <a:ext cx="24288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Интеграции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DCEFBBD-56D1-4796-98CB-48C2C84B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238750"/>
            <a:ext cx="785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SMTP работает; ФСП и ATS требуют подключения</a:t>
            </a:r>
          </a:p>
        </p:txBody>
      </p:sp>
    </p:spTree>
    <p:extLst>
      <p:ext uri="{BB962C8B-B14F-4D97-AF65-F5344CB8AC3E}">
        <p14:creationId xmlns:p14="http://schemas.microsoft.com/office/powerpoint/2010/main" val="3679793639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ae3b79f2cbf54b6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кругленный 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477" y="1522006"/>
            <a:ext cx="3399397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95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rPr>
                <a:solidFill>
                  <a:schemeClr val="accent5"/>
                </a:solidFill>
              </a:rPr>
              <a:t>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780565" y="2493074"/>
            <a:ext cx="2965634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0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780565" y="3128740"/>
            <a:ext cx="2965633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4623178" y="2493074"/>
            <a:ext cx="303489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0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4623178" y="3128740"/>
            <a:ext cx="3034896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8547959" y="2493074"/>
            <a:ext cx="2945464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8547959" y="3128740"/>
            <a:ext cx="2945464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6" y="335426"/>
            <a:ext cx="11331221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780565" y="1772415"/>
            <a:ext cx="1311031" cy="6011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4615219" y="1766200"/>
            <a:ext cx="1311031" cy="57294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8547959" y="1766043"/>
            <a:ext cx="1311031" cy="5731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C4EB94-E485-49E4-8B27-65F9D926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8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ПРОВЕРКА НАВЫКОВ: ЧТО УЖЕ ИЗМЕРЕНО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A5EE5B-C5F2-4074-9E42-487C85D87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38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38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600 / 600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EA8CA05-BDCB-45CF-8334-E9674B85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9087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Уникальных вариантов</a:t>
            </a:r>
          </a:p>
          <a:p xmlns:a="http://schemas.openxmlformats.org/drawingml/2006/main">
            <a:pPr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по одному чертежу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75BAFB-AC4A-4CB9-AC1A-141D9319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38625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2 направления × 3 уровня.</a:t>
            </a:r>
          </a:p>
          <a:p xmlns:a="http://schemas.openxmlformats.org/drawingml/2006/main">
            <a:pPr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8 вопросов, 30 минут.</a:t>
            </a:r>
          </a:p>
          <a:p xmlns:a="http://schemas.openxmlformats.org/drawingml/2006/main">
            <a:pPr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Порог — 70 баллов.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1D53A24-AAE4-4931-9ED9-3BBD1E750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90750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38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38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0,854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8DE3F8E-B934-4659-94DA-A6560C3A9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19087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Корреляция test–retest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C247E9-E200-4B13-A0D3-F0857557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1 200 виртуальных участников.</a:t>
            </a:r>
          </a:p>
          <a:p xmlns:a="http://schemas.openxmlformats.org/drawingml/2006/main">
            <a:pPr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Согласие по прохождению: 86,1%.</a:t>
            </a:r>
          </a:p>
          <a:p xmlns:a="http://schemas.openxmlformats.org/drawingml/2006/main">
            <a:pPr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Симуляция IRT.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E917B23-40CB-4371-AFD9-6AAA6E33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319087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8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38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38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12,84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5C80DC2-8BCD-4017-80E5-1E1A7A0E7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90875"/>
            <a:ext cx="31908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Средний разброс баллов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958658F-497D-4428-AE54-3F5F1978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38625"/>
            <a:ext cx="3143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Короткий тест даёт ошибку.</a:t>
            </a:r>
          </a:p>
          <a:p xmlns:a="http://schemas.openxmlformats.org/drawingml/2006/main">
            <a:pPr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Нужны экспертная разметка</a:t>
            </a:r>
          </a:p>
          <a:p xmlns:a="http://schemas.openxmlformats.org/drawingml/2006/main">
            <a:pPr>
              <a:def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 реальная калибровка.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e60eb4d9c9547d4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rPr>
                <a:solidFill>
                  <a:schemeClr val="accent5"/>
                </a:solidFill>
              </a:rPr>
              <a:t>9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2B865E-C258-4D64-B937-7374914C0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8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МОДЕЛЬ УЛУЧШАЕТ СИНТЕТИЧЕСКИЙ ПОДБОР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F7486D-4616-4C24-A9A5-214B33BD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81125"/>
            <a:ext cx="3238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3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NDCG@5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E949DFA-EBDB-402D-8A91-BF8E28718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Формула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710DC6-17CD-41E3-A228-494CB8EDB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190750"/>
            <a:ext cx="6051328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83D1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47F433-C001-4744-A4A6-FB92F19B6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19075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0,9774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FE13F7-A2C9-49D4-8F03-A2DFB7F48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2900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Гибрид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A26368-F952-4F44-94B9-6C35714E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429000"/>
            <a:ext cx="6131814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8EA5A3-7B79-401B-B8A6-1EAB555A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29000"/>
            <a:ext cx="2095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250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0,9904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897F618-3B62-4134-A4DF-5EC97457C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0"/>
            <a:ext cx="10572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5 120 обучающих пар · 1 280 валидационных · 1 920 тестовых</a:t>
            </a:r>
          </a:p>
          <a:p xmlns:a="http://schemas.openxmlformats.org/drawingml/2006/main">
            <a:pPr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Разделение по потребностям и кандидатам. 60 тестовых подборок.</a:t>
            </a:r>
          </a:p>
          <a:p xmlns:a="http://schemas.openxmlformats.org/drawingml/2006/main">
            <a:pPr>
              <a:def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Метки синтетические: результат не доказывает качество реального найма.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e74ff401edc410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FF9BE287-CC84-BD90-E298-4EEA93BE9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B2EAAB83-DF67-4A10-A863-77C2941176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rPr>
                <a:solidFill>
                  <a:schemeClr val="accent5"/>
                </a:solidFill>
              </a:rPr>
              <a:t>10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3D2D50A4-F98A-4A5D-A666-B99022C8614B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prstGeom xmlns:a="http://schemas.openxmlformats.org/drawingml/2006/main" prst="roundRect">
            <a:avLst>
              <a:gd name="adj" fmla="val 6127"/>
            </a:avLst>
          </a:prstGeom>
        </p:spPr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5D0B644D-D790-48C2-BC35-EDB0C7DDBBE4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prstGeom xmlns:a="http://schemas.openxmlformats.org/drawingml/2006/main" prst="roundRect">
            <a:avLst>
              <a:gd name="adj" fmla="val 11783"/>
            </a:avLst>
          </a:prstGeom>
        </p:spPr>
      </p:sp>
      <p:sp>
        <p:nvSpPr>
          <p:cNvPr id="5" name="Рисунок 4">
            <a:extLst xmlns:a="http://schemas.openxmlformats.org/drawingml/2006/main">
              <a:ext uri="{FF2B5EF4-FFF2-40B4-BE49-F238E27FC236}">
                <a16:creationId xmlns:a16="http://schemas.microsoft.com/office/drawing/2014/main" id="{EAAC3104-3761-4B60-BF27-9DB79C34457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prstGeom xmlns:a="http://schemas.openxmlformats.org/drawingml/2006/main" prst="roundRect">
            <a:avLst>
              <a:gd name="adj" fmla="val 7254"/>
            </a:avLst>
          </a:prstGeom>
        </p:spPr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3849BF57-EB33-4692-98F6-8A1B9293CD16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prstGeom xmlns:a="http://schemas.openxmlformats.org/drawingml/2006/main" prst="roundRect">
            <a:avLst>
              <a:gd name="adj" fmla="val 10128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accent5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641DFED5-BDC7-0680-A1A0-F6CEB622BB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2775523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739AD-D05D-45C2-A3CB-5F235CA8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8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ЧТО ГОТОВО И ЧТО НУЖНО ДЛЯ ПИЛОТА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C4033A-9EC9-4AA3-BD99-F64F59A65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19250"/>
            <a:ext cx="50958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Работающий прототип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0CF41-A8F8-43EA-90E1-1FB4B889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76500"/>
            <a:ext cx="5095875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Регистрация и почта</a:t>
            </a:r>
          </a:p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Профиль и PDF-резюме</a:t>
            </a:r>
          </a:p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Проверка выбранного грейда</a:t>
            </a:r>
          </a:p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Потребности и объяснимый подбор</a:t>
            </a:r>
          </a:p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Приглашения и адресный контакт</a:t>
            </a:r>
          </a:p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Вакансии, отклики, практика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9AF62C-6544-4320-9850-93E46988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61925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17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Следующий этап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DFA6B3-7785-4EA4-8431-45C52C682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476500"/>
            <a:ext cx="4667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Официальный API ФСП и OIDC</a:t>
            </a:r>
          </a:p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Экспертная калибровка тестов</a:t>
            </a:r>
          </a:p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Разметка от работодателей</a:t>
            </a:r>
          </a:p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Проверка компаний и антифрод</a:t>
            </a:r>
          </a:p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Резервные копии, мониторинг</a:t>
            </a:r>
          </a:p>
          <a:p xmlns:a="http://schemas.openxmlformats.org/drawingml/2006/main">
            <a:pPr>
              <a:def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75" b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ATS, пилот и оценка результатов</a:t>
            </a:r>
          </a:p>
        </p:txBody>
      </p:sp>
    </p:spTree>
    <p:extLst>
      <p:ext uri="{BB962C8B-B14F-4D97-AF65-F5344CB8AC3E}">
        <p14:creationId xmlns:p14="http://schemas.microsoft.com/office/powerpoint/2010/main" val="2384268140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e0fe2a28022413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39125108-8C0F-2F06-5739-B84F0E2F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noFill xmlns:a="http://schemas.openxmlformats.org/drawingml/2006/main"/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2" name="AutoShape 1">
            <a:extLst xmlns:a="http://schemas.openxmlformats.org/drawingml/2006/main">
              <a:ext uri="{FF2B5EF4-FFF2-40B4-BE49-F238E27FC236}">
                <a16:creationId xmlns:a16="http://schemas.microsoft.com/office/drawing/2014/main" id="{C5DD9855-9040-4A8E-8FC7-2A87D71D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50498" y="1149443"/>
            <a:ext cx="4266586" cy="2822929"/>
          </a:xfrm>
          <a:prstGeom xmlns:a="http://schemas.openxmlformats.org/drawingml/2006/main" prst="roundRect">
            <a:avLst>
              <a:gd name="adj" fmla="val 1292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CA962FF-DEAF-450E-BAC9-2CBF039F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9124" y="1358784"/>
            <a:ext cx="4266587" cy="1998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4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9B32C08-05E5-455D-AB4B-FA780C0B9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782205" y="1203365"/>
            <a:ext cx="1706634" cy="355244"/>
          </a:xfrm>
          <a:prstGeom xmlns:a="http://schemas.openxmlformats.org/drawingml/2006/main" prst="roundRect">
            <a:avLst>
              <a:gd name="adj" fmla="val 11986"/>
            </a:avLst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5" name="Oval 4">
            <a:extLst xmlns:a="http://schemas.openxmlformats.org/drawingml/2006/main">
              <a:ext uri="{FF2B5EF4-FFF2-40B4-BE49-F238E27FC236}">
                <a16:creationId xmlns:a16="http://schemas.microsoft.com/office/drawing/2014/main" id="{DB5DCAC2-FF8B-4D8A-8761-EF6BE6B4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218574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6" name="Oval 5">
            <a:extLst xmlns:a="http://schemas.openxmlformats.org/drawingml/2006/main">
              <a:ext uri="{FF2B5EF4-FFF2-40B4-BE49-F238E27FC236}">
                <a16:creationId xmlns:a16="http://schemas.microsoft.com/office/drawing/2014/main" id="{A18062AF-728F-4F67-A9EE-6DA3DC1E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325239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7" name="Oval 6">
            <a:extLst xmlns:a="http://schemas.openxmlformats.org/drawingml/2006/main">
              <a:ext uri="{FF2B5EF4-FFF2-40B4-BE49-F238E27FC236}">
                <a16:creationId xmlns:a16="http://schemas.microsoft.com/office/drawing/2014/main" id="{1F8B8CA3-31B9-4E3E-89F8-B823F31C1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431903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8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C40CC64C-4BDE-4B83-ACBA-76BBEC31E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89263" y="1396846"/>
            <a:ext cx="3205451" cy="126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 cap="flat">
            <a:solidFill>
              <a:srgbClr val="B3B3B3"/>
            </a:solidFill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2" name="Freeform 13">
            <a:extLst xmlns:a="http://schemas.openxmlformats.org/drawingml/2006/main">
              <a:ext uri="{FF2B5EF4-FFF2-40B4-BE49-F238E27FC236}">
                <a16:creationId xmlns:a16="http://schemas.microsoft.com/office/drawing/2014/main" id="{8251ED56-D5C4-4244-B7B8-9CC65D6F8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0105" y="1203365"/>
            <a:ext cx="24455" cy="24472"/>
          </a:xfrm>
          <a:custGeom xmlns:a="http://schemas.openxmlformats.org/drawingml/2006/main"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2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3" name="Freeform 14">
            <a:extLst xmlns:a="http://schemas.openxmlformats.org/drawingml/2006/main">
              <a:ext uri="{FF2B5EF4-FFF2-40B4-BE49-F238E27FC236}">
                <a16:creationId xmlns:a16="http://schemas.microsoft.com/office/drawing/2014/main" id="{ECE11028-B7CA-451E-851D-176871A0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0105" y="1240208"/>
            <a:ext cx="24455" cy="24472"/>
          </a:xfrm>
          <a:custGeom xmlns:a="http://schemas.openxmlformats.org/drawingml/2006/main"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1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4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663966C-C5F6-4AF2-AC81-EF7A040B7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10105" y="1276945"/>
            <a:ext cx="24455" cy="24634"/>
          </a:xfrm>
          <a:custGeom xmlns:a="http://schemas.openxmlformats.org/drawingml/2006/main">
            <a:gdLst>
              <a:gd name="T0" fmla="*/ 168 w 193"/>
              <a:gd name="T1" fmla="*/ 0 h 193"/>
              <a:gd name="T2" fmla="*/ 24 w 193"/>
              <a:gd name="T3" fmla="*/ 0 h 193"/>
              <a:gd name="T4" fmla="*/ 0 w 193"/>
              <a:gd name="T5" fmla="*/ 25 h 193"/>
              <a:gd name="T6" fmla="*/ 0 w 193"/>
              <a:gd name="T7" fmla="*/ 169 h 193"/>
              <a:gd name="T8" fmla="*/ 24 w 193"/>
              <a:gd name="T9" fmla="*/ 193 h 193"/>
              <a:gd name="T10" fmla="*/ 168 w 193"/>
              <a:gd name="T11" fmla="*/ 193 h 193"/>
              <a:gd name="T12" fmla="*/ 193 w 193"/>
              <a:gd name="T13" fmla="*/ 169 h 193"/>
              <a:gd name="T14" fmla="*/ 193 w 193"/>
              <a:gd name="T15" fmla="*/ 25 h 193"/>
              <a:gd name="T16" fmla="*/ 168 w 193"/>
              <a:gd name="T17" fmla="*/ 0 h 193"/>
            </a:gdLst>
            <a:rect l="0" t="0" r="r" b="b"/>
            <a:pathLst>
              <a:path w="193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2" y="193"/>
                  <a:pt x="193" y="182"/>
                  <a:pt x="193" y="169"/>
                </a:cubicBezTo>
                <a:cubicBezTo>
                  <a:pt x="193" y="25"/>
                  <a:pt x="193" y="25"/>
                  <a:pt x="193" y="25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5" name="Freeform 16">
            <a:extLst xmlns:a="http://schemas.openxmlformats.org/drawingml/2006/main">
              <a:ext uri="{FF2B5EF4-FFF2-40B4-BE49-F238E27FC236}">
                <a16:creationId xmlns:a16="http://schemas.microsoft.com/office/drawing/2014/main" id="{1231452A-2DB6-4628-B13E-989E3196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6734" y="1203365"/>
            <a:ext cx="24294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6" name="Freeform 17">
            <a:extLst xmlns:a="http://schemas.openxmlformats.org/drawingml/2006/main">
              <a:ext uri="{FF2B5EF4-FFF2-40B4-BE49-F238E27FC236}">
                <a16:creationId xmlns:a16="http://schemas.microsoft.com/office/drawing/2014/main" id="{02B5F533-7190-4486-800E-50B9DEE2E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6734" y="1240208"/>
            <a:ext cx="24294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7" name="Freeform 18">
            <a:extLst xmlns:a="http://schemas.openxmlformats.org/drawingml/2006/main">
              <a:ext uri="{FF2B5EF4-FFF2-40B4-BE49-F238E27FC236}">
                <a16:creationId xmlns:a16="http://schemas.microsoft.com/office/drawing/2014/main" id="{E1197ACF-D4F7-4F4F-B51B-31BAB0320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46734" y="1276945"/>
            <a:ext cx="24294" cy="24634"/>
          </a:xfrm>
          <a:custGeom xmlns:a="http://schemas.openxmlformats.org/drawingml/2006/main"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8" name="Freeform 19">
            <a:extLst xmlns:a="http://schemas.openxmlformats.org/drawingml/2006/main">
              <a:ext uri="{FF2B5EF4-FFF2-40B4-BE49-F238E27FC236}">
                <a16:creationId xmlns:a16="http://schemas.microsoft.com/office/drawing/2014/main" id="{305C916E-AA00-40D3-979E-8385C880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3310" y="1203365"/>
            <a:ext cx="24348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9" name="Freeform 20">
            <a:extLst xmlns:a="http://schemas.openxmlformats.org/drawingml/2006/main">
              <a:ext uri="{FF2B5EF4-FFF2-40B4-BE49-F238E27FC236}">
                <a16:creationId xmlns:a16="http://schemas.microsoft.com/office/drawing/2014/main" id="{606A4951-C43E-4D62-8601-77DAE03DB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3310" y="1240208"/>
            <a:ext cx="24348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0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4DF5AB0-92B8-4555-8BFE-FEB94F35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283310" y="1276945"/>
            <a:ext cx="24348" cy="24634"/>
          </a:xfrm>
          <a:custGeom xmlns:a="http://schemas.openxmlformats.org/drawingml/2006/main"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0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0" name="Freeform 25">
            <a:extLst xmlns:a="http://schemas.openxmlformats.org/drawingml/2006/main">
              <a:ext uri="{FF2B5EF4-FFF2-40B4-BE49-F238E27FC236}">
                <a16:creationId xmlns:a16="http://schemas.microsoft.com/office/drawing/2014/main" id="{C904AC4F-21D6-40FC-874A-C69831B8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5211808" y="1416310"/>
            <a:ext cx="92256" cy="81375"/>
          </a:xfrm>
          <a:custGeom xmlns:a="http://schemas.openxmlformats.org/drawingml/2006/main">
            <a:gdLst>
              <a:gd name="T0" fmla="*/ 504 w 896"/>
              <a:gd name="T1" fmla="*/ 0 h 784"/>
              <a:gd name="T2" fmla="*/ 116 w 896"/>
              <a:gd name="T3" fmla="*/ 336 h 784"/>
              <a:gd name="T4" fmla="*/ 0 w 896"/>
              <a:gd name="T5" fmla="*/ 336 h 784"/>
              <a:gd name="T6" fmla="*/ 168 w 896"/>
              <a:gd name="T7" fmla="*/ 560 h 784"/>
              <a:gd name="T8" fmla="*/ 336 w 896"/>
              <a:gd name="T9" fmla="*/ 336 h 784"/>
              <a:gd name="T10" fmla="*/ 230 w 896"/>
              <a:gd name="T11" fmla="*/ 336 h 784"/>
              <a:gd name="T12" fmla="*/ 504 w 896"/>
              <a:gd name="T13" fmla="*/ 112 h 784"/>
              <a:gd name="T14" fmla="*/ 784 w 896"/>
              <a:gd name="T15" fmla="*/ 392 h 784"/>
              <a:gd name="T16" fmla="*/ 504 w 896"/>
              <a:gd name="T17" fmla="*/ 672 h 784"/>
              <a:gd name="T18" fmla="*/ 504 w 896"/>
              <a:gd name="T19" fmla="*/ 784 h 784"/>
              <a:gd name="T20" fmla="*/ 896 w 896"/>
              <a:gd name="T21" fmla="*/ 392 h 784"/>
              <a:gd name="T22" fmla="*/ 504 w 896"/>
              <a:gd name="T23" fmla="*/ 0 h 784"/>
            </a:gdLst>
            <a:rect l="0" t="0" r="r" b="b"/>
            <a:pathLst>
              <a:path w="896" h="784">
                <a:moveTo>
                  <a:pt x="504" y="0"/>
                </a:moveTo>
                <a:cubicBezTo>
                  <a:pt x="307" y="0"/>
                  <a:pt x="144" y="146"/>
                  <a:pt x="116" y="336"/>
                </a:cubicBezTo>
                <a:cubicBezTo>
                  <a:pt x="0" y="336"/>
                  <a:pt x="0" y="336"/>
                  <a:pt x="0" y="336"/>
                </a:cubicBezTo>
                <a:cubicBezTo>
                  <a:pt x="168" y="560"/>
                  <a:pt x="168" y="560"/>
                  <a:pt x="168" y="560"/>
                </a:cubicBezTo>
                <a:cubicBezTo>
                  <a:pt x="336" y="336"/>
                  <a:pt x="336" y="336"/>
                  <a:pt x="336" y="336"/>
                </a:cubicBezTo>
                <a:cubicBezTo>
                  <a:pt x="230" y="336"/>
                  <a:pt x="230" y="336"/>
                  <a:pt x="230" y="336"/>
                </a:cubicBezTo>
                <a:cubicBezTo>
                  <a:pt x="256" y="208"/>
                  <a:pt x="369" y="112"/>
                  <a:pt x="504" y="112"/>
                </a:cubicBezTo>
                <a:cubicBezTo>
                  <a:pt x="658" y="112"/>
                  <a:pt x="784" y="238"/>
                  <a:pt x="784" y="392"/>
                </a:cubicBezTo>
                <a:cubicBezTo>
                  <a:pt x="784" y="546"/>
                  <a:pt x="658" y="672"/>
                  <a:pt x="504" y="672"/>
                </a:cubicBezTo>
                <a:cubicBezTo>
                  <a:pt x="504" y="784"/>
                  <a:pt x="504" y="784"/>
                  <a:pt x="504" y="784"/>
                </a:cubicBezTo>
                <a:cubicBezTo>
                  <a:pt x="721" y="784"/>
                  <a:pt x="896" y="609"/>
                  <a:pt x="896" y="392"/>
                </a:cubicBezTo>
                <a:cubicBezTo>
                  <a:pt x="896" y="175"/>
                  <a:pt x="721" y="0"/>
                  <a:pt x="50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21" name="Oval 6">
            <a:extLst xmlns:a="http://schemas.openxmlformats.org/drawingml/2006/main">
              <a:ext uri="{FF2B5EF4-FFF2-40B4-BE49-F238E27FC236}">
                <a16:creationId xmlns:a16="http://schemas.microsoft.com/office/drawing/2014/main" id="{008AEF74-0CB4-4F9D-941F-B3FDCFD4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543769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FF43D9F-F201-460A-B5AB-10C4C6323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05596" y="1340551"/>
            <a:ext cx="86074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 sz="9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localhost:3000</a:t>
            </a:r>
          </a:p>
        </p:txBody>
      </p:sp>
      <p:sp>
        <p:nvSpPr>
          <p:cNvPr id="11" name="Freeform 29">
            <a:extLst xmlns:a="http://schemas.openxmlformats.org/drawingml/2006/main">
              <a:ext uri="{FF2B5EF4-FFF2-40B4-BE49-F238E27FC236}">
                <a16:creationId xmlns:a16="http://schemas.microsoft.com/office/drawing/2014/main" id="{773BAD95-B78D-42DD-A801-8B84C3BF5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29513" y="1425286"/>
            <a:ext cx="72445" cy="73024"/>
          </a:xfrm>
          <a:custGeom xmlns:a="http://schemas.openxmlformats.org/drawingml/2006/main">
            <a:gdLst>
              <a:gd name="T0" fmla="*/ 0 w 636"/>
              <a:gd name="T1" fmla="*/ 318 h 636"/>
              <a:gd name="T2" fmla="*/ 636 w 636"/>
              <a:gd name="T3" fmla="*/ 318 h 636"/>
              <a:gd name="T4" fmla="*/ 594 w 636"/>
              <a:gd name="T5" fmla="*/ 308 h 636"/>
              <a:gd name="T6" fmla="*/ 448 w 636"/>
              <a:gd name="T7" fmla="*/ 179 h 636"/>
              <a:gd name="T8" fmla="*/ 594 w 636"/>
              <a:gd name="T9" fmla="*/ 308 h 636"/>
              <a:gd name="T10" fmla="*/ 223 w 636"/>
              <a:gd name="T11" fmla="*/ 486 h 636"/>
              <a:gd name="T12" fmla="*/ 308 w 636"/>
              <a:gd name="T13" fmla="*/ 594 h 636"/>
              <a:gd name="T14" fmla="*/ 329 w 636"/>
              <a:gd name="T15" fmla="*/ 42 h 636"/>
              <a:gd name="T16" fmla="*/ 328 w 636"/>
              <a:gd name="T17" fmla="*/ 184 h 636"/>
              <a:gd name="T18" fmla="*/ 329 w 636"/>
              <a:gd name="T19" fmla="*/ 42 h 636"/>
              <a:gd name="T20" fmla="*/ 510 w 636"/>
              <a:gd name="T21" fmla="*/ 119 h 636"/>
              <a:gd name="T22" fmla="*/ 363 w 636"/>
              <a:gd name="T23" fmla="*/ 45 h 636"/>
              <a:gd name="T24" fmla="*/ 308 w 636"/>
              <a:gd name="T25" fmla="*/ 184 h 636"/>
              <a:gd name="T26" fmla="*/ 307 w 636"/>
              <a:gd name="T27" fmla="*/ 42 h 636"/>
              <a:gd name="T28" fmla="*/ 196 w 636"/>
              <a:gd name="T29" fmla="*/ 160 h 636"/>
              <a:gd name="T30" fmla="*/ 273 w 636"/>
              <a:gd name="T31" fmla="*/ 45 h 636"/>
              <a:gd name="T32" fmla="*/ 207 w 636"/>
              <a:gd name="T33" fmla="*/ 186 h 636"/>
              <a:gd name="T34" fmla="*/ 308 w 636"/>
              <a:gd name="T35" fmla="*/ 308 h 636"/>
              <a:gd name="T36" fmla="*/ 207 w 636"/>
              <a:gd name="T37" fmla="*/ 186 h 636"/>
              <a:gd name="T38" fmla="*/ 308 w 636"/>
              <a:gd name="T39" fmla="*/ 452 h 636"/>
              <a:gd name="T40" fmla="*/ 185 w 636"/>
              <a:gd name="T41" fmla="*/ 328 h 636"/>
              <a:gd name="T42" fmla="*/ 273 w 636"/>
              <a:gd name="T43" fmla="*/ 591 h 636"/>
              <a:gd name="T44" fmla="*/ 204 w 636"/>
              <a:gd name="T45" fmla="*/ 493 h 636"/>
              <a:gd name="T46" fmla="*/ 328 w 636"/>
              <a:gd name="T47" fmla="*/ 594 h 636"/>
              <a:gd name="T48" fmla="*/ 413 w 636"/>
              <a:gd name="T49" fmla="*/ 486 h 636"/>
              <a:gd name="T50" fmla="*/ 328 w 636"/>
              <a:gd name="T51" fmla="*/ 594 h 636"/>
              <a:gd name="T52" fmla="*/ 498 w 636"/>
              <a:gd name="T53" fmla="*/ 528 h 636"/>
              <a:gd name="T54" fmla="*/ 432 w 636"/>
              <a:gd name="T55" fmla="*/ 493 h 636"/>
              <a:gd name="T56" fmla="*/ 328 w 636"/>
              <a:gd name="T57" fmla="*/ 452 h 636"/>
              <a:gd name="T58" fmla="*/ 451 w 636"/>
              <a:gd name="T59" fmla="*/ 328 h 636"/>
              <a:gd name="T60" fmla="*/ 328 w 636"/>
              <a:gd name="T61" fmla="*/ 308 h 636"/>
              <a:gd name="T62" fmla="*/ 429 w 636"/>
              <a:gd name="T63" fmla="*/ 186 h 636"/>
              <a:gd name="T64" fmla="*/ 328 w 636"/>
              <a:gd name="T65" fmla="*/ 308 h 636"/>
              <a:gd name="T66" fmla="*/ 188 w 636"/>
              <a:gd name="T67" fmla="*/ 179 h 636"/>
              <a:gd name="T68" fmla="*/ 42 w 636"/>
              <a:gd name="T69" fmla="*/ 308 h 636"/>
              <a:gd name="T70" fmla="*/ 42 w 636"/>
              <a:gd name="T71" fmla="*/ 328 h 636"/>
              <a:gd name="T72" fmla="*/ 195 w 636"/>
              <a:gd name="T73" fmla="*/ 475 h 636"/>
              <a:gd name="T74" fmla="*/ 42 w 636"/>
              <a:gd name="T75" fmla="*/ 328 h 636"/>
              <a:gd name="T76" fmla="*/ 441 w 636"/>
              <a:gd name="T77" fmla="*/ 475 h 636"/>
              <a:gd name="T78" fmla="*/ 594 w 636"/>
              <a:gd name="T79" fmla="*/ 328 h 636"/>
            </a:gdLst>
            <a:rect l="0" t="0" r="r" b="b"/>
            <a:pathLst>
              <a:path w="636" h="636">
                <a:moveTo>
                  <a:pt x="318" y="0"/>
                </a:moveTo>
                <a:cubicBezTo>
                  <a:pt x="142" y="0"/>
                  <a:pt x="0" y="142"/>
                  <a:pt x="0" y="318"/>
                </a:cubicBezTo>
                <a:cubicBezTo>
                  <a:pt x="0" y="494"/>
                  <a:pt x="142" y="636"/>
                  <a:pt x="318" y="636"/>
                </a:cubicBezTo>
                <a:cubicBezTo>
                  <a:pt x="494" y="636"/>
                  <a:pt x="636" y="494"/>
                  <a:pt x="636" y="318"/>
                </a:cubicBezTo>
                <a:cubicBezTo>
                  <a:pt x="636" y="142"/>
                  <a:pt x="494" y="0"/>
                  <a:pt x="318" y="0"/>
                </a:cubicBezTo>
                <a:close/>
                <a:moveTo>
                  <a:pt x="594" y="308"/>
                </a:moveTo>
                <a:cubicBezTo>
                  <a:pt x="471" y="308"/>
                  <a:pt x="471" y="308"/>
                  <a:pt x="471" y="308"/>
                </a:cubicBezTo>
                <a:cubicBezTo>
                  <a:pt x="470" y="262"/>
                  <a:pt x="462" y="219"/>
                  <a:pt x="448" y="179"/>
                </a:cubicBezTo>
                <a:cubicBezTo>
                  <a:pt x="476" y="168"/>
                  <a:pt x="501" y="152"/>
                  <a:pt x="525" y="134"/>
                </a:cubicBezTo>
                <a:cubicBezTo>
                  <a:pt x="566" y="181"/>
                  <a:pt x="592" y="241"/>
                  <a:pt x="594" y="308"/>
                </a:cubicBezTo>
                <a:close/>
                <a:moveTo>
                  <a:pt x="307" y="594"/>
                </a:moveTo>
                <a:cubicBezTo>
                  <a:pt x="273" y="566"/>
                  <a:pt x="244" y="529"/>
                  <a:pt x="223" y="486"/>
                </a:cubicBezTo>
                <a:cubicBezTo>
                  <a:pt x="250" y="478"/>
                  <a:pt x="278" y="473"/>
                  <a:pt x="308" y="472"/>
                </a:cubicBezTo>
                <a:cubicBezTo>
                  <a:pt x="308" y="594"/>
                  <a:pt x="308" y="594"/>
                  <a:pt x="308" y="594"/>
                </a:cubicBezTo>
                <a:cubicBezTo>
                  <a:pt x="307" y="594"/>
                  <a:pt x="307" y="594"/>
                  <a:pt x="307" y="594"/>
                </a:cubicBezTo>
                <a:close/>
                <a:moveTo>
                  <a:pt x="329" y="42"/>
                </a:moveTo>
                <a:cubicBezTo>
                  <a:pt x="368" y="74"/>
                  <a:pt x="400" y="117"/>
                  <a:pt x="421" y="167"/>
                </a:cubicBezTo>
                <a:cubicBezTo>
                  <a:pt x="392" y="177"/>
                  <a:pt x="361" y="183"/>
                  <a:pt x="328" y="184"/>
                </a:cubicBezTo>
                <a:cubicBezTo>
                  <a:pt x="328" y="42"/>
                  <a:pt x="328" y="42"/>
                  <a:pt x="328" y="42"/>
                </a:cubicBezTo>
                <a:cubicBezTo>
                  <a:pt x="329" y="42"/>
                  <a:pt x="329" y="42"/>
                  <a:pt x="329" y="42"/>
                </a:cubicBezTo>
                <a:close/>
                <a:moveTo>
                  <a:pt x="363" y="45"/>
                </a:moveTo>
                <a:cubicBezTo>
                  <a:pt x="420" y="55"/>
                  <a:pt x="471" y="81"/>
                  <a:pt x="510" y="119"/>
                </a:cubicBezTo>
                <a:cubicBezTo>
                  <a:pt x="489" y="136"/>
                  <a:pt x="466" y="150"/>
                  <a:pt x="440" y="160"/>
                </a:cubicBezTo>
                <a:cubicBezTo>
                  <a:pt x="421" y="116"/>
                  <a:pt x="395" y="77"/>
                  <a:pt x="363" y="45"/>
                </a:cubicBezTo>
                <a:close/>
                <a:moveTo>
                  <a:pt x="308" y="42"/>
                </a:moveTo>
                <a:cubicBezTo>
                  <a:pt x="308" y="184"/>
                  <a:pt x="308" y="184"/>
                  <a:pt x="308" y="184"/>
                </a:cubicBezTo>
                <a:cubicBezTo>
                  <a:pt x="275" y="183"/>
                  <a:pt x="244" y="177"/>
                  <a:pt x="215" y="167"/>
                </a:cubicBezTo>
                <a:cubicBezTo>
                  <a:pt x="236" y="117"/>
                  <a:pt x="268" y="74"/>
                  <a:pt x="307" y="42"/>
                </a:cubicBezTo>
                <a:cubicBezTo>
                  <a:pt x="307" y="42"/>
                  <a:pt x="307" y="42"/>
                  <a:pt x="308" y="42"/>
                </a:cubicBezTo>
                <a:close/>
                <a:moveTo>
                  <a:pt x="196" y="160"/>
                </a:moveTo>
                <a:cubicBezTo>
                  <a:pt x="171" y="150"/>
                  <a:pt x="147" y="136"/>
                  <a:pt x="126" y="119"/>
                </a:cubicBezTo>
                <a:cubicBezTo>
                  <a:pt x="165" y="81"/>
                  <a:pt x="216" y="55"/>
                  <a:pt x="273" y="45"/>
                </a:cubicBezTo>
                <a:cubicBezTo>
                  <a:pt x="241" y="77"/>
                  <a:pt x="215" y="116"/>
                  <a:pt x="196" y="160"/>
                </a:cubicBezTo>
                <a:close/>
                <a:moveTo>
                  <a:pt x="207" y="186"/>
                </a:moveTo>
                <a:cubicBezTo>
                  <a:pt x="239" y="197"/>
                  <a:pt x="273" y="204"/>
                  <a:pt x="308" y="205"/>
                </a:cubicBezTo>
                <a:cubicBezTo>
                  <a:pt x="308" y="308"/>
                  <a:pt x="308" y="308"/>
                  <a:pt x="308" y="308"/>
                </a:cubicBezTo>
                <a:cubicBezTo>
                  <a:pt x="185" y="308"/>
                  <a:pt x="185" y="308"/>
                  <a:pt x="185" y="308"/>
                </a:cubicBezTo>
                <a:cubicBezTo>
                  <a:pt x="186" y="265"/>
                  <a:pt x="194" y="224"/>
                  <a:pt x="207" y="186"/>
                </a:cubicBezTo>
                <a:close/>
                <a:moveTo>
                  <a:pt x="308" y="328"/>
                </a:moveTo>
                <a:cubicBezTo>
                  <a:pt x="308" y="452"/>
                  <a:pt x="308" y="452"/>
                  <a:pt x="308" y="452"/>
                </a:cubicBezTo>
                <a:cubicBezTo>
                  <a:pt x="275" y="453"/>
                  <a:pt x="244" y="458"/>
                  <a:pt x="215" y="468"/>
                </a:cubicBezTo>
                <a:cubicBezTo>
                  <a:pt x="197" y="425"/>
                  <a:pt x="186" y="378"/>
                  <a:pt x="185" y="328"/>
                </a:cubicBezTo>
                <a:lnTo>
                  <a:pt x="308" y="328"/>
                </a:lnTo>
                <a:close/>
                <a:moveTo>
                  <a:pt x="273" y="591"/>
                </a:moveTo>
                <a:cubicBezTo>
                  <a:pt x="222" y="582"/>
                  <a:pt x="176" y="560"/>
                  <a:pt x="138" y="528"/>
                </a:cubicBezTo>
                <a:cubicBezTo>
                  <a:pt x="158" y="514"/>
                  <a:pt x="180" y="502"/>
                  <a:pt x="204" y="493"/>
                </a:cubicBezTo>
                <a:cubicBezTo>
                  <a:pt x="222" y="531"/>
                  <a:pt x="245" y="563"/>
                  <a:pt x="273" y="591"/>
                </a:cubicBezTo>
                <a:close/>
                <a:moveTo>
                  <a:pt x="328" y="594"/>
                </a:moveTo>
                <a:cubicBezTo>
                  <a:pt x="328" y="472"/>
                  <a:pt x="328" y="472"/>
                  <a:pt x="328" y="472"/>
                </a:cubicBezTo>
                <a:cubicBezTo>
                  <a:pt x="358" y="473"/>
                  <a:pt x="386" y="478"/>
                  <a:pt x="413" y="486"/>
                </a:cubicBezTo>
                <a:cubicBezTo>
                  <a:pt x="392" y="529"/>
                  <a:pt x="363" y="566"/>
                  <a:pt x="329" y="594"/>
                </a:cubicBezTo>
                <a:cubicBezTo>
                  <a:pt x="329" y="594"/>
                  <a:pt x="329" y="594"/>
                  <a:pt x="328" y="594"/>
                </a:cubicBezTo>
                <a:close/>
                <a:moveTo>
                  <a:pt x="432" y="493"/>
                </a:moveTo>
                <a:cubicBezTo>
                  <a:pt x="456" y="502"/>
                  <a:pt x="478" y="514"/>
                  <a:pt x="498" y="528"/>
                </a:cubicBezTo>
                <a:cubicBezTo>
                  <a:pt x="460" y="560"/>
                  <a:pt x="414" y="582"/>
                  <a:pt x="363" y="591"/>
                </a:cubicBezTo>
                <a:cubicBezTo>
                  <a:pt x="391" y="563"/>
                  <a:pt x="414" y="531"/>
                  <a:pt x="432" y="493"/>
                </a:cubicBezTo>
                <a:close/>
                <a:moveTo>
                  <a:pt x="421" y="468"/>
                </a:moveTo>
                <a:cubicBezTo>
                  <a:pt x="392" y="458"/>
                  <a:pt x="361" y="453"/>
                  <a:pt x="328" y="452"/>
                </a:cubicBezTo>
                <a:cubicBezTo>
                  <a:pt x="328" y="328"/>
                  <a:pt x="328" y="328"/>
                  <a:pt x="328" y="328"/>
                </a:cubicBezTo>
                <a:cubicBezTo>
                  <a:pt x="451" y="328"/>
                  <a:pt x="451" y="328"/>
                  <a:pt x="451" y="328"/>
                </a:cubicBezTo>
                <a:cubicBezTo>
                  <a:pt x="450" y="378"/>
                  <a:pt x="439" y="425"/>
                  <a:pt x="421" y="468"/>
                </a:cubicBezTo>
                <a:close/>
                <a:moveTo>
                  <a:pt x="328" y="308"/>
                </a:moveTo>
                <a:cubicBezTo>
                  <a:pt x="328" y="205"/>
                  <a:pt x="328" y="205"/>
                  <a:pt x="328" y="205"/>
                </a:cubicBezTo>
                <a:cubicBezTo>
                  <a:pt x="363" y="204"/>
                  <a:pt x="397" y="197"/>
                  <a:pt x="429" y="186"/>
                </a:cubicBezTo>
                <a:cubicBezTo>
                  <a:pt x="442" y="224"/>
                  <a:pt x="450" y="265"/>
                  <a:pt x="451" y="308"/>
                </a:cubicBezTo>
                <a:lnTo>
                  <a:pt x="328" y="308"/>
                </a:lnTo>
                <a:close/>
                <a:moveTo>
                  <a:pt x="111" y="134"/>
                </a:moveTo>
                <a:cubicBezTo>
                  <a:pt x="135" y="152"/>
                  <a:pt x="160" y="168"/>
                  <a:pt x="188" y="179"/>
                </a:cubicBezTo>
                <a:cubicBezTo>
                  <a:pt x="174" y="219"/>
                  <a:pt x="166" y="262"/>
                  <a:pt x="165" y="308"/>
                </a:cubicBezTo>
                <a:cubicBezTo>
                  <a:pt x="42" y="308"/>
                  <a:pt x="42" y="308"/>
                  <a:pt x="42" y="308"/>
                </a:cubicBezTo>
                <a:cubicBezTo>
                  <a:pt x="44" y="241"/>
                  <a:pt x="70" y="181"/>
                  <a:pt x="111" y="134"/>
                </a:cubicBezTo>
                <a:close/>
                <a:moveTo>
                  <a:pt x="42" y="328"/>
                </a:moveTo>
                <a:cubicBezTo>
                  <a:pt x="165" y="328"/>
                  <a:pt x="165" y="328"/>
                  <a:pt x="165" y="328"/>
                </a:cubicBezTo>
                <a:cubicBezTo>
                  <a:pt x="166" y="381"/>
                  <a:pt x="177" y="430"/>
                  <a:pt x="195" y="475"/>
                </a:cubicBezTo>
                <a:cubicBezTo>
                  <a:pt x="169" y="485"/>
                  <a:pt x="145" y="498"/>
                  <a:pt x="123" y="514"/>
                </a:cubicBezTo>
                <a:cubicBezTo>
                  <a:pt x="75" y="466"/>
                  <a:pt x="44" y="401"/>
                  <a:pt x="42" y="328"/>
                </a:cubicBezTo>
                <a:close/>
                <a:moveTo>
                  <a:pt x="513" y="514"/>
                </a:moveTo>
                <a:cubicBezTo>
                  <a:pt x="491" y="498"/>
                  <a:pt x="467" y="485"/>
                  <a:pt x="441" y="475"/>
                </a:cubicBezTo>
                <a:cubicBezTo>
                  <a:pt x="459" y="430"/>
                  <a:pt x="470" y="381"/>
                  <a:pt x="471" y="328"/>
                </a:cubicBezTo>
                <a:cubicBezTo>
                  <a:pt x="594" y="328"/>
                  <a:pt x="594" y="328"/>
                  <a:pt x="594" y="328"/>
                </a:cubicBezTo>
                <a:cubicBezTo>
                  <a:pt x="592" y="401"/>
                  <a:pt x="561" y="466"/>
                  <a:pt x="513" y="51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5" name="AutoShape 1">
            <a:extLst xmlns:a="http://schemas.openxmlformats.org/drawingml/2006/main">
              <a:ext uri="{FF2B5EF4-FFF2-40B4-BE49-F238E27FC236}">
                <a16:creationId xmlns:a16="http://schemas.microsoft.com/office/drawing/2014/main" id="{48F16F12-B004-4ABE-AAA8-42D597EFD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5396" y="1149443"/>
            <a:ext cx="4266586" cy="2822929"/>
          </a:xfrm>
          <a:prstGeom xmlns:a="http://schemas.openxmlformats.org/drawingml/2006/main" prst="roundRect">
            <a:avLst>
              <a:gd name="adj" fmla="val 1292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  <a:effectLst xmlns:a="http://schemas.openxmlformats.org/drawingml/2006/main"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6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2CE4B65-6103-4C38-92A7-2A427C04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794022" y="1358784"/>
            <a:ext cx="4266587" cy="1998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7" name="AutoShape 3">
            <a:extLst xmlns:a="http://schemas.openxmlformats.org/drawingml/2006/main">
              <a:ext uri="{FF2B5EF4-FFF2-40B4-BE49-F238E27FC236}">
                <a16:creationId xmlns:a16="http://schemas.microsoft.com/office/drawing/2014/main" id="{297699FF-7AA4-40F4-81BC-DF7B89B3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27103" y="1203365"/>
            <a:ext cx="1706634" cy="355244"/>
          </a:xfrm>
          <a:prstGeom xmlns:a="http://schemas.openxmlformats.org/drawingml/2006/main" prst="roundRect">
            <a:avLst>
              <a:gd name="adj" fmla="val 11986"/>
            </a:avLst>
          </a:prstGeom>
          <a:solidFill xmlns:a="http://schemas.openxmlformats.org/drawingml/2006/main">
            <a:schemeClr val="accent6">
              <a:lumMod val="50000"/>
            </a:schemeClr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8" name="Oval 4">
            <a:extLst xmlns:a="http://schemas.openxmlformats.org/drawingml/2006/main">
              <a:ext uri="{FF2B5EF4-FFF2-40B4-BE49-F238E27FC236}">
                <a16:creationId xmlns:a16="http://schemas.microsoft.com/office/drawing/2014/main" id="{D68B6E0E-D3C7-4493-A31B-8207DAE9C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863472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2"/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9" name="Oval 5">
            <a:extLst xmlns:a="http://schemas.openxmlformats.org/drawingml/2006/main">
              <a:ext uri="{FF2B5EF4-FFF2-40B4-BE49-F238E27FC236}">
                <a16:creationId xmlns:a16="http://schemas.microsoft.com/office/drawing/2014/main" id="{AA3A8A3A-E81C-4F16-9EA2-9F11A9775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970137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0" name="Oval 6">
            <a:extLst xmlns:a="http://schemas.openxmlformats.org/drawingml/2006/main">
              <a:ext uri="{FF2B5EF4-FFF2-40B4-BE49-F238E27FC236}">
                <a16:creationId xmlns:a16="http://schemas.microsoft.com/office/drawing/2014/main" id="{539165D2-E0B0-4B91-BDF2-5FF535A7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076801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1" name="Rectangle 92">
            <a:extLst xmlns:a="http://schemas.openxmlformats.org/drawingml/2006/main">
              <a:ext uri="{FF2B5EF4-FFF2-40B4-BE49-F238E27FC236}">
                <a16:creationId xmlns:a16="http://schemas.microsoft.com/office/drawing/2014/main" id="{B58995FD-774E-443F-8F74-D69C353C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4161" y="1396846"/>
            <a:ext cx="3205451" cy="126873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5400" cap="flat">
            <a:solidFill>
              <a:srgbClr val="B3B3B3"/>
            </a:solidFill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5" name="Freeform 13">
            <a:extLst xmlns:a="http://schemas.openxmlformats.org/drawingml/2006/main">
              <a:ext uri="{FF2B5EF4-FFF2-40B4-BE49-F238E27FC236}">
                <a16:creationId xmlns:a16="http://schemas.microsoft.com/office/drawing/2014/main" id="{2EE8F120-DDD5-495E-8097-10825D0A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5003" y="1203365"/>
            <a:ext cx="24455" cy="24472"/>
          </a:xfrm>
          <a:custGeom xmlns:a="http://schemas.openxmlformats.org/drawingml/2006/main"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2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6" name="Freeform 14">
            <a:extLst xmlns:a="http://schemas.openxmlformats.org/drawingml/2006/main">
              <a:ext uri="{FF2B5EF4-FFF2-40B4-BE49-F238E27FC236}">
                <a16:creationId xmlns:a16="http://schemas.microsoft.com/office/drawing/2014/main" id="{899F88D3-5C91-4BBA-BE63-9371B4B3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5003" y="1240208"/>
            <a:ext cx="24455" cy="24472"/>
          </a:xfrm>
          <a:custGeom xmlns:a="http://schemas.openxmlformats.org/drawingml/2006/main">
            <a:gdLst>
              <a:gd name="T0" fmla="*/ 168 w 193"/>
              <a:gd name="T1" fmla="*/ 0 h 192"/>
              <a:gd name="T2" fmla="*/ 24 w 193"/>
              <a:gd name="T3" fmla="*/ 0 h 192"/>
              <a:gd name="T4" fmla="*/ 0 w 193"/>
              <a:gd name="T5" fmla="*/ 24 h 192"/>
              <a:gd name="T6" fmla="*/ 0 w 193"/>
              <a:gd name="T7" fmla="*/ 168 h 192"/>
              <a:gd name="T8" fmla="*/ 24 w 193"/>
              <a:gd name="T9" fmla="*/ 192 h 192"/>
              <a:gd name="T10" fmla="*/ 168 w 193"/>
              <a:gd name="T11" fmla="*/ 192 h 192"/>
              <a:gd name="T12" fmla="*/ 193 w 193"/>
              <a:gd name="T13" fmla="*/ 168 h 192"/>
              <a:gd name="T14" fmla="*/ 193 w 193"/>
              <a:gd name="T15" fmla="*/ 24 h 192"/>
              <a:gd name="T16" fmla="*/ 168 w 193"/>
              <a:gd name="T17" fmla="*/ 0 h 192"/>
            </a:gdLst>
            <a:rect l="0" t="0" r="r" b="b"/>
            <a:pathLst>
              <a:path w="193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2" y="192"/>
                  <a:pt x="193" y="181"/>
                  <a:pt x="193" y="168"/>
                </a:cubicBezTo>
                <a:cubicBezTo>
                  <a:pt x="193" y="24"/>
                  <a:pt x="193" y="24"/>
                  <a:pt x="193" y="24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7" name="Freeform 15">
            <a:extLst xmlns:a="http://schemas.openxmlformats.org/drawingml/2006/main">
              <a:ext uri="{FF2B5EF4-FFF2-40B4-BE49-F238E27FC236}">
                <a16:creationId xmlns:a16="http://schemas.microsoft.com/office/drawing/2014/main" id="{C1C5DCC2-9B40-4DA3-AB2F-ED9C5D891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55003" y="1276945"/>
            <a:ext cx="24455" cy="24634"/>
          </a:xfrm>
          <a:custGeom xmlns:a="http://schemas.openxmlformats.org/drawingml/2006/main">
            <a:gdLst>
              <a:gd name="T0" fmla="*/ 168 w 193"/>
              <a:gd name="T1" fmla="*/ 0 h 193"/>
              <a:gd name="T2" fmla="*/ 24 w 193"/>
              <a:gd name="T3" fmla="*/ 0 h 193"/>
              <a:gd name="T4" fmla="*/ 0 w 193"/>
              <a:gd name="T5" fmla="*/ 25 h 193"/>
              <a:gd name="T6" fmla="*/ 0 w 193"/>
              <a:gd name="T7" fmla="*/ 169 h 193"/>
              <a:gd name="T8" fmla="*/ 24 w 193"/>
              <a:gd name="T9" fmla="*/ 193 h 193"/>
              <a:gd name="T10" fmla="*/ 168 w 193"/>
              <a:gd name="T11" fmla="*/ 193 h 193"/>
              <a:gd name="T12" fmla="*/ 193 w 193"/>
              <a:gd name="T13" fmla="*/ 169 h 193"/>
              <a:gd name="T14" fmla="*/ 193 w 193"/>
              <a:gd name="T15" fmla="*/ 25 h 193"/>
              <a:gd name="T16" fmla="*/ 168 w 193"/>
              <a:gd name="T17" fmla="*/ 0 h 193"/>
            </a:gdLst>
            <a:rect l="0" t="0" r="r" b="b"/>
            <a:pathLst>
              <a:path w="193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2" y="193"/>
                  <a:pt x="193" y="182"/>
                  <a:pt x="193" y="169"/>
                </a:cubicBezTo>
                <a:cubicBezTo>
                  <a:pt x="193" y="25"/>
                  <a:pt x="193" y="25"/>
                  <a:pt x="193" y="25"/>
                </a:cubicBezTo>
                <a:cubicBezTo>
                  <a:pt x="193" y="11"/>
                  <a:pt x="182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8" name="Freeform 16">
            <a:extLst xmlns:a="http://schemas.openxmlformats.org/drawingml/2006/main">
              <a:ext uri="{FF2B5EF4-FFF2-40B4-BE49-F238E27FC236}">
                <a16:creationId xmlns:a16="http://schemas.microsoft.com/office/drawing/2014/main" id="{0721D991-881C-4DBE-AF30-E47AE304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1632" y="1203365"/>
            <a:ext cx="24294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9" name="Freeform 17">
            <a:extLst xmlns:a="http://schemas.openxmlformats.org/drawingml/2006/main">
              <a:ext uri="{FF2B5EF4-FFF2-40B4-BE49-F238E27FC236}">
                <a16:creationId xmlns:a16="http://schemas.microsoft.com/office/drawing/2014/main" id="{97111254-2A6F-40F4-8741-1C703E43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1632" y="1240208"/>
            <a:ext cx="24294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1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0" name="Freeform 18">
            <a:extLst xmlns:a="http://schemas.openxmlformats.org/drawingml/2006/main">
              <a:ext uri="{FF2B5EF4-FFF2-40B4-BE49-F238E27FC236}">
                <a16:creationId xmlns:a16="http://schemas.microsoft.com/office/drawing/2014/main" id="{3448ADF5-3363-4495-90EA-D3397EA0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1632" y="1276945"/>
            <a:ext cx="24294" cy="24634"/>
          </a:xfrm>
          <a:custGeom xmlns:a="http://schemas.openxmlformats.org/drawingml/2006/main"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1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1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1" name="Freeform 19">
            <a:extLst xmlns:a="http://schemas.openxmlformats.org/drawingml/2006/main">
              <a:ext uri="{FF2B5EF4-FFF2-40B4-BE49-F238E27FC236}">
                <a16:creationId xmlns:a16="http://schemas.microsoft.com/office/drawing/2014/main" id="{A11FFFD8-A688-46DB-9518-83D23CB9A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28208" y="1203365"/>
            <a:ext cx="24348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2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2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2" name="Freeform 20">
            <a:extLst xmlns:a="http://schemas.openxmlformats.org/drawingml/2006/main">
              <a:ext uri="{FF2B5EF4-FFF2-40B4-BE49-F238E27FC236}">
                <a16:creationId xmlns:a16="http://schemas.microsoft.com/office/drawing/2014/main" id="{3B48C2AB-505E-4332-A44A-9D533A65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28208" y="1240208"/>
            <a:ext cx="24348" cy="24472"/>
          </a:xfrm>
          <a:custGeom xmlns:a="http://schemas.openxmlformats.org/drawingml/2006/main">
            <a:gdLst>
              <a:gd name="T0" fmla="*/ 168 w 192"/>
              <a:gd name="T1" fmla="*/ 0 h 192"/>
              <a:gd name="T2" fmla="*/ 24 w 192"/>
              <a:gd name="T3" fmla="*/ 0 h 192"/>
              <a:gd name="T4" fmla="*/ 0 w 192"/>
              <a:gd name="T5" fmla="*/ 24 h 192"/>
              <a:gd name="T6" fmla="*/ 0 w 192"/>
              <a:gd name="T7" fmla="*/ 168 h 192"/>
              <a:gd name="T8" fmla="*/ 24 w 192"/>
              <a:gd name="T9" fmla="*/ 192 h 192"/>
              <a:gd name="T10" fmla="*/ 168 w 192"/>
              <a:gd name="T11" fmla="*/ 192 h 192"/>
              <a:gd name="T12" fmla="*/ 192 w 192"/>
              <a:gd name="T13" fmla="*/ 168 h 192"/>
              <a:gd name="T14" fmla="*/ 192 w 192"/>
              <a:gd name="T15" fmla="*/ 24 h 192"/>
              <a:gd name="T16" fmla="*/ 168 w 192"/>
              <a:gd name="T17" fmla="*/ 0 h 192"/>
            </a:gdLst>
            <a:rect l="0" t="0" r="r" b="b"/>
            <a:pathLst>
              <a:path w="192" h="192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4"/>
                </a:cubicBezTo>
                <a:cubicBezTo>
                  <a:pt x="0" y="168"/>
                  <a:pt x="0" y="168"/>
                  <a:pt x="0" y="168"/>
                </a:cubicBezTo>
                <a:cubicBezTo>
                  <a:pt x="0" y="181"/>
                  <a:pt x="10" y="192"/>
                  <a:pt x="24" y="192"/>
                </a:cubicBezTo>
                <a:cubicBezTo>
                  <a:pt x="168" y="192"/>
                  <a:pt x="168" y="192"/>
                  <a:pt x="168" y="192"/>
                </a:cubicBezTo>
                <a:cubicBezTo>
                  <a:pt x="181" y="192"/>
                  <a:pt x="192" y="181"/>
                  <a:pt x="192" y="168"/>
                </a:cubicBezTo>
                <a:cubicBezTo>
                  <a:pt x="192" y="24"/>
                  <a:pt x="192" y="24"/>
                  <a:pt x="192" y="24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53" name="Freeform 21">
            <a:extLst xmlns:a="http://schemas.openxmlformats.org/drawingml/2006/main">
              <a:ext uri="{FF2B5EF4-FFF2-40B4-BE49-F238E27FC236}">
                <a16:creationId xmlns:a16="http://schemas.microsoft.com/office/drawing/2014/main" id="{EBFBAB80-64C2-4E27-A1CC-A218E6C3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28208" y="1276945"/>
            <a:ext cx="24348" cy="24634"/>
          </a:xfrm>
          <a:custGeom xmlns:a="http://schemas.openxmlformats.org/drawingml/2006/main">
            <a:gdLst>
              <a:gd name="T0" fmla="*/ 168 w 192"/>
              <a:gd name="T1" fmla="*/ 0 h 193"/>
              <a:gd name="T2" fmla="*/ 24 w 192"/>
              <a:gd name="T3" fmla="*/ 0 h 193"/>
              <a:gd name="T4" fmla="*/ 0 w 192"/>
              <a:gd name="T5" fmla="*/ 25 h 193"/>
              <a:gd name="T6" fmla="*/ 0 w 192"/>
              <a:gd name="T7" fmla="*/ 169 h 193"/>
              <a:gd name="T8" fmla="*/ 24 w 192"/>
              <a:gd name="T9" fmla="*/ 193 h 193"/>
              <a:gd name="T10" fmla="*/ 168 w 192"/>
              <a:gd name="T11" fmla="*/ 193 h 193"/>
              <a:gd name="T12" fmla="*/ 192 w 192"/>
              <a:gd name="T13" fmla="*/ 169 h 193"/>
              <a:gd name="T14" fmla="*/ 192 w 192"/>
              <a:gd name="T15" fmla="*/ 25 h 193"/>
              <a:gd name="T16" fmla="*/ 168 w 192"/>
              <a:gd name="T17" fmla="*/ 0 h 193"/>
            </a:gdLst>
            <a:rect l="0" t="0" r="r" b="b"/>
            <a:pathLst>
              <a:path w="192" h="193">
                <a:moveTo>
                  <a:pt x="168" y="0"/>
                </a:moveTo>
                <a:cubicBezTo>
                  <a:pt x="24" y="0"/>
                  <a:pt x="24" y="0"/>
                  <a:pt x="24" y="0"/>
                </a:cubicBezTo>
                <a:cubicBezTo>
                  <a:pt x="10" y="0"/>
                  <a:pt x="0" y="11"/>
                  <a:pt x="0" y="25"/>
                </a:cubicBezTo>
                <a:cubicBezTo>
                  <a:pt x="0" y="169"/>
                  <a:pt x="0" y="169"/>
                  <a:pt x="0" y="169"/>
                </a:cubicBezTo>
                <a:cubicBezTo>
                  <a:pt x="0" y="182"/>
                  <a:pt x="10" y="193"/>
                  <a:pt x="24" y="193"/>
                </a:cubicBezTo>
                <a:cubicBezTo>
                  <a:pt x="168" y="193"/>
                  <a:pt x="168" y="193"/>
                  <a:pt x="168" y="193"/>
                </a:cubicBezTo>
                <a:cubicBezTo>
                  <a:pt x="181" y="193"/>
                  <a:pt x="192" y="182"/>
                  <a:pt x="192" y="169"/>
                </a:cubicBezTo>
                <a:cubicBezTo>
                  <a:pt x="192" y="25"/>
                  <a:pt x="192" y="25"/>
                  <a:pt x="192" y="25"/>
                </a:cubicBezTo>
                <a:cubicBezTo>
                  <a:pt x="192" y="11"/>
                  <a:pt x="181" y="0"/>
                  <a:pt x="168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3" name="Freeform 25">
            <a:extLst xmlns:a="http://schemas.openxmlformats.org/drawingml/2006/main">
              <a:ext uri="{FF2B5EF4-FFF2-40B4-BE49-F238E27FC236}">
                <a16:creationId xmlns:a16="http://schemas.microsoft.com/office/drawing/2014/main" id="{27106E3B-5EE5-442B-87E5-0B8163B9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 flipH="0" flipV="0">
            <a:off x="10856706" y="1416310"/>
            <a:ext cx="92256" cy="81375"/>
          </a:xfrm>
          <a:custGeom xmlns:a="http://schemas.openxmlformats.org/drawingml/2006/main">
            <a:gdLst>
              <a:gd name="T0" fmla="*/ 504 w 896"/>
              <a:gd name="T1" fmla="*/ 0 h 784"/>
              <a:gd name="T2" fmla="*/ 116 w 896"/>
              <a:gd name="T3" fmla="*/ 336 h 784"/>
              <a:gd name="T4" fmla="*/ 0 w 896"/>
              <a:gd name="T5" fmla="*/ 336 h 784"/>
              <a:gd name="T6" fmla="*/ 168 w 896"/>
              <a:gd name="T7" fmla="*/ 560 h 784"/>
              <a:gd name="T8" fmla="*/ 336 w 896"/>
              <a:gd name="T9" fmla="*/ 336 h 784"/>
              <a:gd name="T10" fmla="*/ 230 w 896"/>
              <a:gd name="T11" fmla="*/ 336 h 784"/>
              <a:gd name="T12" fmla="*/ 504 w 896"/>
              <a:gd name="T13" fmla="*/ 112 h 784"/>
              <a:gd name="T14" fmla="*/ 784 w 896"/>
              <a:gd name="T15" fmla="*/ 392 h 784"/>
              <a:gd name="T16" fmla="*/ 504 w 896"/>
              <a:gd name="T17" fmla="*/ 672 h 784"/>
              <a:gd name="T18" fmla="*/ 504 w 896"/>
              <a:gd name="T19" fmla="*/ 784 h 784"/>
              <a:gd name="T20" fmla="*/ 896 w 896"/>
              <a:gd name="T21" fmla="*/ 392 h 784"/>
              <a:gd name="T22" fmla="*/ 504 w 896"/>
              <a:gd name="T23" fmla="*/ 0 h 784"/>
            </a:gdLst>
            <a:rect l="0" t="0" r="r" b="b"/>
            <a:pathLst>
              <a:path w="896" h="784">
                <a:moveTo>
                  <a:pt x="504" y="0"/>
                </a:moveTo>
                <a:cubicBezTo>
                  <a:pt x="307" y="0"/>
                  <a:pt x="144" y="146"/>
                  <a:pt x="116" y="336"/>
                </a:cubicBezTo>
                <a:cubicBezTo>
                  <a:pt x="0" y="336"/>
                  <a:pt x="0" y="336"/>
                  <a:pt x="0" y="336"/>
                </a:cubicBezTo>
                <a:cubicBezTo>
                  <a:pt x="168" y="560"/>
                  <a:pt x="168" y="560"/>
                  <a:pt x="168" y="560"/>
                </a:cubicBezTo>
                <a:cubicBezTo>
                  <a:pt x="336" y="336"/>
                  <a:pt x="336" y="336"/>
                  <a:pt x="336" y="336"/>
                </a:cubicBezTo>
                <a:cubicBezTo>
                  <a:pt x="230" y="336"/>
                  <a:pt x="230" y="336"/>
                  <a:pt x="230" y="336"/>
                </a:cubicBezTo>
                <a:cubicBezTo>
                  <a:pt x="256" y="208"/>
                  <a:pt x="369" y="112"/>
                  <a:pt x="504" y="112"/>
                </a:cubicBezTo>
                <a:cubicBezTo>
                  <a:pt x="658" y="112"/>
                  <a:pt x="784" y="238"/>
                  <a:pt x="784" y="392"/>
                </a:cubicBezTo>
                <a:cubicBezTo>
                  <a:pt x="784" y="546"/>
                  <a:pt x="658" y="672"/>
                  <a:pt x="504" y="672"/>
                </a:cubicBezTo>
                <a:cubicBezTo>
                  <a:pt x="504" y="784"/>
                  <a:pt x="504" y="784"/>
                  <a:pt x="504" y="784"/>
                </a:cubicBezTo>
                <a:cubicBezTo>
                  <a:pt x="721" y="784"/>
                  <a:pt x="896" y="609"/>
                  <a:pt x="896" y="392"/>
                </a:cubicBezTo>
                <a:cubicBezTo>
                  <a:pt x="896" y="175"/>
                  <a:pt x="721" y="0"/>
                  <a:pt x="504" y="0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44" name="Oval 6">
            <a:extLst xmlns:a="http://schemas.openxmlformats.org/drawingml/2006/main">
              <a:ext uri="{FF2B5EF4-FFF2-40B4-BE49-F238E27FC236}">
                <a16:creationId xmlns:a16="http://schemas.microsoft.com/office/drawing/2014/main" id="{AFFAA0AD-114A-4831-ACE3-B8C4258E3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188667" y="1225567"/>
            <a:ext cx="60220" cy="60265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5"/>
          </a:solidFill>
          <a:ln xmlns:a="http://schemas.openxmlformats.org/drawingml/2006/main" w="25400" cap="flat">
            <a:noFill/>
            <a:prstDash val="solid"/>
            <a:miter/>
            <a:headEnd type="none" w="med" len="med"/>
            <a:tailEnd type="none" w="med" len="med"/>
          </a:ln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4BEAEF8-91EF-49C8-A667-2BC7D51C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0494" y="1340551"/>
            <a:ext cx="860742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defPPr>
              <a:defRPr sz="9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900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900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localhost:3000</a:t>
            </a:r>
          </a:p>
        </p:txBody>
      </p:sp>
      <p:sp>
        <p:nvSpPr>
          <p:cNvPr id="34" name="Freeform 29">
            <a:extLst xmlns:a="http://schemas.openxmlformats.org/drawingml/2006/main">
              <a:ext uri="{FF2B5EF4-FFF2-40B4-BE49-F238E27FC236}">
                <a16:creationId xmlns:a16="http://schemas.microsoft.com/office/drawing/2014/main" id="{1C88632E-4E09-404A-9868-C0997FA1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74411" y="1425286"/>
            <a:ext cx="72445" cy="73024"/>
          </a:xfrm>
          <a:custGeom xmlns:a="http://schemas.openxmlformats.org/drawingml/2006/main">
            <a:gdLst>
              <a:gd name="T0" fmla="*/ 0 w 636"/>
              <a:gd name="T1" fmla="*/ 318 h 636"/>
              <a:gd name="T2" fmla="*/ 636 w 636"/>
              <a:gd name="T3" fmla="*/ 318 h 636"/>
              <a:gd name="T4" fmla="*/ 594 w 636"/>
              <a:gd name="T5" fmla="*/ 308 h 636"/>
              <a:gd name="T6" fmla="*/ 448 w 636"/>
              <a:gd name="T7" fmla="*/ 179 h 636"/>
              <a:gd name="T8" fmla="*/ 594 w 636"/>
              <a:gd name="T9" fmla="*/ 308 h 636"/>
              <a:gd name="T10" fmla="*/ 223 w 636"/>
              <a:gd name="T11" fmla="*/ 486 h 636"/>
              <a:gd name="T12" fmla="*/ 308 w 636"/>
              <a:gd name="T13" fmla="*/ 594 h 636"/>
              <a:gd name="T14" fmla="*/ 329 w 636"/>
              <a:gd name="T15" fmla="*/ 42 h 636"/>
              <a:gd name="T16" fmla="*/ 328 w 636"/>
              <a:gd name="T17" fmla="*/ 184 h 636"/>
              <a:gd name="T18" fmla="*/ 329 w 636"/>
              <a:gd name="T19" fmla="*/ 42 h 636"/>
              <a:gd name="T20" fmla="*/ 510 w 636"/>
              <a:gd name="T21" fmla="*/ 119 h 636"/>
              <a:gd name="T22" fmla="*/ 363 w 636"/>
              <a:gd name="T23" fmla="*/ 45 h 636"/>
              <a:gd name="T24" fmla="*/ 308 w 636"/>
              <a:gd name="T25" fmla="*/ 184 h 636"/>
              <a:gd name="T26" fmla="*/ 307 w 636"/>
              <a:gd name="T27" fmla="*/ 42 h 636"/>
              <a:gd name="T28" fmla="*/ 196 w 636"/>
              <a:gd name="T29" fmla="*/ 160 h 636"/>
              <a:gd name="T30" fmla="*/ 273 w 636"/>
              <a:gd name="T31" fmla="*/ 45 h 636"/>
              <a:gd name="T32" fmla="*/ 207 w 636"/>
              <a:gd name="T33" fmla="*/ 186 h 636"/>
              <a:gd name="T34" fmla="*/ 308 w 636"/>
              <a:gd name="T35" fmla="*/ 308 h 636"/>
              <a:gd name="T36" fmla="*/ 207 w 636"/>
              <a:gd name="T37" fmla="*/ 186 h 636"/>
              <a:gd name="T38" fmla="*/ 308 w 636"/>
              <a:gd name="T39" fmla="*/ 452 h 636"/>
              <a:gd name="T40" fmla="*/ 185 w 636"/>
              <a:gd name="T41" fmla="*/ 328 h 636"/>
              <a:gd name="T42" fmla="*/ 273 w 636"/>
              <a:gd name="T43" fmla="*/ 591 h 636"/>
              <a:gd name="T44" fmla="*/ 204 w 636"/>
              <a:gd name="T45" fmla="*/ 493 h 636"/>
              <a:gd name="T46" fmla="*/ 328 w 636"/>
              <a:gd name="T47" fmla="*/ 594 h 636"/>
              <a:gd name="T48" fmla="*/ 413 w 636"/>
              <a:gd name="T49" fmla="*/ 486 h 636"/>
              <a:gd name="T50" fmla="*/ 328 w 636"/>
              <a:gd name="T51" fmla="*/ 594 h 636"/>
              <a:gd name="T52" fmla="*/ 498 w 636"/>
              <a:gd name="T53" fmla="*/ 528 h 636"/>
              <a:gd name="T54" fmla="*/ 432 w 636"/>
              <a:gd name="T55" fmla="*/ 493 h 636"/>
              <a:gd name="T56" fmla="*/ 328 w 636"/>
              <a:gd name="T57" fmla="*/ 452 h 636"/>
              <a:gd name="T58" fmla="*/ 451 w 636"/>
              <a:gd name="T59" fmla="*/ 328 h 636"/>
              <a:gd name="T60" fmla="*/ 328 w 636"/>
              <a:gd name="T61" fmla="*/ 308 h 636"/>
              <a:gd name="T62" fmla="*/ 429 w 636"/>
              <a:gd name="T63" fmla="*/ 186 h 636"/>
              <a:gd name="T64" fmla="*/ 328 w 636"/>
              <a:gd name="T65" fmla="*/ 308 h 636"/>
              <a:gd name="T66" fmla="*/ 188 w 636"/>
              <a:gd name="T67" fmla="*/ 179 h 636"/>
              <a:gd name="T68" fmla="*/ 42 w 636"/>
              <a:gd name="T69" fmla="*/ 308 h 636"/>
              <a:gd name="T70" fmla="*/ 42 w 636"/>
              <a:gd name="T71" fmla="*/ 328 h 636"/>
              <a:gd name="T72" fmla="*/ 195 w 636"/>
              <a:gd name="T73" fmla="*/ 475 h 636"/>
              <a:gd name="T74" fmla="*/ 42 w 636"/>
              <a:gd name="T75" fmla="*/ 328 h 636"/>
              <a:gd name="T76" fmla="*/ 441 w 636"/>
              <a:gd name="T77" fmla="*/ 475 h 636"/>
              <a:gd name="T78" fmla="*/ 594 w 636"/>
              <a:gd name="T79" fmla="*/ 328 h 636"/>
            </a:gdLst>
            <a:rect l="0" t="0" r="r" b="b"/>
            <a:pathLst>
              <a:path w="636" h="636">
                <a:moveTo>
                  <a:pt x="318" y="0"/>
                </a:moveTo>
                <a:cubicBezTo>
                  <a:pt x="142" y="0"/>
                  <a:pt x="0" y="142"/>
                  <a:pt x="0" y="318"/>
                </a:cubicBezTo>
                <a:cubicBezTo>
                  <a:pt x="0" y="494"/>
                  <a:pt x="142" y="636"/>
                  <a:pt x="318" y="636"/>
                </a:cubicBezTo>
                <a:cubicBezTo>
                  <a:pt x="494" y="636"/>
                  <a:pt x="636" y="494"/>
                  <a:pt x="636" y="318"/>
                </a:cubicBezTo>
                <a:cubicBezTo>
                  <a:pt x="636" y="142"/>
                  <a:pt x="494" y="0"/>
                  <a:pt x="318" y="0"/>
                </a:cubicBezTo>
                <a:close/>
                <a:moveTo>
                  <a:pt x="594" y="308"/>
                </a:moveTo>
                <a:cubicBezTo>
                  <a:pt x="471" y="308"/>
                  <a:pt x="471" y="308"/>
                  <a:pt x="471" y="308"/>
                </a:cubicBezTo>
                <a:cubicBezTo>
                  <a:pt x="470" y="262"/>
                  <a:pt x="462" y="219"/>
                  <a:pt x="448" y="179"/>
                </a:cubicBezTo>
                <a:cubicBezTo>
                  <a:pt x="476" y="168"/>
                  <a:pt x="501" y="152"/>
                  <a:pt x="525" y="134"/>
                </a:cubicBezTo>
                <a:cubicBezTo>
                  <a:pt x="566" y="181"/>
                  <a:pt x="592" y="241"/>
                  <a:pt x="594" y="308"/>
                </a:cubicBezTo>
                <a:close/>
                <a:moveTo>
                  <a:pt x="307" y="594"/>
                </a:moveTo>
                <a:cubicBezTo>
                  <a:pt x="273" y="566"/>
                  <a:pt x="244" y="529"/>
                  <a:pt x="223" y="486"/>
                </a:cubicBezTo>
                <a:cubicBezTo>
                  <a:pt x="250" y="478"/>
                  <a:pt x="278" y="473"/>
                  <a:pt x="308" y="472"/>
                </a:cubicBezTo>
                <a:cubicBezTo>
                  <a:pt x="308" y="594"/>
                  <a:pt x="308" y="594"/>
                  <a:pt x="308" y="594"/>
                </a:cubicBezTo>
                <a:cubicBezTo>
                  <a:pt x="307" y="594"/>
                  <a:pt x="307" y="594"/>
                  <a:pt x="307" y="594"/>
                </a:cubicBezTo>
                <a:close/>
                <a:moveTo>
                  <a:pt x="329" y="42"/>
                </a:moveTo>
                <a:cubicBezTo>
                  <a:pt x="368" y="74"/>
                  <a:pt x="400" y="117"/>
                  <a:pt x="421" y="167"/>
                </a:cubicBezTo>
                <a:cubicBezTo>
                  <a:pt x="392" y="177"/>
                  <a:pt x="361" y="183"/>
                  <a:pt x="328" y="184"/>
                </a:cubicBezTo>
                <a:cubicBezTo>
                  <a:pt x="328" y="42"/>
                  <a:pt x="328" y="42"/>
                  <a:pt x="328" y="42"/>
                </a:cubicBezTo>
                <a:cubicBezTo>
                  <a:pt x="329" y="42"/>
                  <a:pt x="329" y="42"/>
                  <a:pt x="329" y="42"/>
                </a:cubicBezTo>
                <a:close/>
                <a:moveTo>
                  <a:pt x="363" y="45"/>
                </a:moveTo>
                <a:cubicBezTo>
                  <a:pt x="420" y="55"/>
                  <a:pt x="471" y="81"/>
                  <a:pt x="510" y="119"/>
                </a:cubicBezTo>
                <a:cubicBezTo>
                  <a:pt x="489" y="136"/>
                  <a:pt x="466" y="150"/>
                  <a:pt x="440" y="160"/>
                </a:cubicBezTo>
                <a:cubicBezTo>
                  <a:pt x="421" y="116"/>
                  <a:pt x="395" y="77"/>
                  <a:pt x="363" y="45"/>
                </a:cubicBezTo>
                <a:close/>
                <a:moveTo>
                  <a:pt x="308" y="42"/>
                </a:moveTo>
                <a:cubicBezTo>
                  <a:pt x="308" y="184"/>
                  <a:pt x="308" y="184"/>
                  <a:pt x="308" y="184"/>
                </a:cubicBezTo>
                <a:cubicBezTo>
                  <a:pt x="275" y="183"/>
                  <a:pt x="244" y="177"/>
                  <a:pt x="215" y="167"/>
                </a:cubicBezTo>
                <a:cubicBezTo>
                  <a:pt x="236" y="117"/>
                  <a:pt x="268" y="74"/>
                  <a:pt x="307" y="42"/>
                </a:cubicBezTo>
                <a:cubicBezTo>
                  <a:pt x="307" y="42"/>
                  <a:pt x="307" y="42"/>
                  <a:pt x="308" y="42"/>
                </a:cubicBezTo>
                <a:close/>
                <a:moveTo>
                  <a:pt x="196" y="160"/>
                </a:moveTo>
                <a:cubicBezTo>
                  <a:pt x="171" y="150"/>
                  <a:pt x="147" y="136"/>
                  <a:pt x="126" y="119"/>
                </a:cubicBezTo>
                <a:cubicBezTo>
                  <a:pt x="165" y="81"/>
                  <a:pt x="216" y="55"/>
                  <a:pt x="273" y="45"/>
                </a:cubicBezTo>
                <a:cubicBezTo>
                  <a:pt x="241" y="77"/>
                  <a:pt x="215" y="116"/>
                  <a:pt x="196" y="160"/>
                </a:cubicBezTo>
                <a:close/>
                <a:moveTo>
                  <a:pt x="207" y="186"/>
                </a:moveTo>
                <a:cubicBezTo>
                  <a:pt x="239" y="197"/>
                  <a:pt x="273" y="204"/>
                  <a:pt x="308" y="205"/>
                </a:cubicBezTo>
                <a:cubicBezTo>
                  <a:pt x="308" y="308"/>
                  <a:pt x="308" y="308"/>
                  <a:pt x="308" y="308"/>
                </a:cubicBezTo>
                <a:cubicBezTo>
                  <a:pt x="185" y="308"/>
                  <a:pt x="185" y="308"/>
                  <a:pt x="185" y="308"/>
                </a:cubicBezTo>
                <a:cubicBezTo>
                  <a:pt x="186" y="265"/>
                  <a:pt x="194" y="224"/>
                  <a:pt x="207" y="186"/>
                </a:cubicBezTo>
                <a:close/>
                <a:moveTo>
                  <a:pt x="308" y="328"/>
                </a:moveTo>
                <a:cubicBezTo>
                  <a:pt x="308" y="452"/>
                  <a:pt x="308" y="452"/>
                  <a:pt x="308" y="452"/>
                </a:cubicBezTo>
                <a:cubicBezTo>
                  <a:pt x="275" y="453"/>
                  <a:pt x="244" y="458"/>
                  <a:pt x="215" y="468"/>
                </a:cubicBezTo>
                <a:cubicBezTo>
                  <a:pt x="197" y="425"/>
                  <a:pt x="186" y="378"/>
                  <a:pt x="185" y="328"/>
                </a:cubicBezTo>
                <a:lnTo>
                  <a:pt x="308" y="328"/>
                </a:lnTo>
                <a:close/>
                <a:moveTo>
                  <a:pt x="273" y="591"/>
                </a:moveTo>
                <a:cubicBezTo>
                  <a:pt x="222" y="582"/>
                  <a:pt x="176" y="560"/>
                  <a:pt x="138" y="528"/>
                </a:cubicBezTo>
                <a:cubicBezTo>
                  <a:pt x="158" y="514"/>
                  <a:pt x="180" y="502"/>
                  <a:pt x="204" y="493"/>
                </a:cubicBezTo>
                <a:cubicBezTo>
                  <a:pt x="222" y="531"/>
                  <a:pt x="245" y="563"/>
                  <a:pt x="273" y="591"/>
                </a:cubicBezTo>
                <a:close/>
                <a:moveTo>
                  <a:pt x="328" y="594"/>
                </a:moveTo>
                <a:cubicBezTo>
                  <a:pt x="328" y="472"/>
                  <a:pt x="328" y="472"/>
                  <a:pt x="328" y="472"/>
                </a:cubicBezTo>
                <a:cubicBezTo>
                  <a:pt x="358" y="473"/>
                  <a:pt x="386" y="478"/>
                  <a:pt x="413" y="486"/>
                </a:cubicBezTo>
                <a:cubicBezTo>
                  <a:pt x="392" y="529"/>
                  <a:pt x="363" y="566"/>
                  <a:pt x="329" y="594"/>
                </a:cubicBezTo>
                <a:cubicBezTo>
                  <a:pt x="329" y="594"/>
                  <a:pt x="329" y="594"/>
                  <a:pt x="328" y="594"/>
                </a:cubicBezTo>
                <a:close/>
                <a:moveTo>
                  <a:pt x="432" y="493"/>
                </a:moveTo>
                <a:cubicBezTo>
                  <a:pt x="456" y="502"/>
                  <a:pt x="478" y="514"/>
                  <a:pt x="498" y="528"/>
                </a:cubicBezTo>
                <a:cubicBezTo>
                  <a:pt x="460" y="560"/>
                  <a:pt x="414" y="582"/>
                  <a:pt x="363" y="591"/>
                </a:cubicBezTo>
                <a:cubicBezTo>
                  <a:pt x="391" y="563"/>
                  <a:pt x="414" y="531"/>
                  <a:pt x="432" y="493"/>
                </a:cubicBezTo>
                <a:close/>
                <a:moveTo>
                  <a:pt x="421" y="468"/>
                </a:moveTo>
                <a:cubicBezTo>
                  <a:pt x="392" y="458"/>
                  <a:pt x="361" y="453"/>
                  <a:pt x="328" y="452"/>
                </a:cubicBezTo>
                <a:cubicBezTo>
                  <a:pt x="328" y="328"/>
                  <a:pt x="328" y="328"/>
                  <a:pt x="328" y="328"/>
                </a:cubicBezTo>
                <a:cubicBezTo>
                  <a:pt x="451" y="328"/>
                  <a:pt x="451" y="328"/>
                  <a:pt x="451" y="328"/>
                </a:cubicBezTo>
                <a:cubicBezTo>
                  <a:pt x="450" y="378"/>
                  <a:pt x="439" y="425"/>
                  <a:pt x="421" y="468"/>
                </a:cubicBezTo>
                <a:close/>
                <a:moveTo>
                  <a:pt x="328" y="308"/>
                </a:moveTo>
                <a:cubicBezTo>
                  <a:pt x="328" y="205"/>
                  <a:pt x="328" y="205"/>
                  <a:pt x="328" y="205"/>
                </a:cubicBezTo>
                <a:cubicBezTo>
                  <a:pt x="363" y="204"/>
                  <a:pt x="397" y="197"/>
                  <a:pt x="429" y="186"/>
                </a:cubicBezTo>
                <a:cubicBezTo>
                  <a:pt x="442" y="224"/>
                  <a:pt x="450" y="265"/>
                  <a:pt x="451" y="308"/>
                </a:cubicBezTo>
                <a:lnTo>
                  <a:pt x="328" y="308"/>
                </a:lnTo>
                <a:close/>
                <a:moveTo>
                  <a:pt x="111" y="134"/>
                </a:moveTo>
                <a:cubicBezTo>
                  <a:pt x="135" y="152"/>
                  <a:pt x="160" y="168"/>
                  <a:pt x="188" y="179"/>
                </a:cubicBezTo>
                <a:cubicBezTo>
                  <a:pt x="174" y="219"/>
                  <a:pt x="166" y="262"/>
                  <a:pt x="165" y="308"/>
                </a:cubicBezTo>
                <a:cubicBezTo>
                  <a:pt x="42" y="308"/>
                  <a:pt x="42" y="308"/>
                  <a:pt x="42" y="308"/>
                </a:cubicBezTo>
                <a:cubicBezTo>
                  <a:pt x="44" y="241"/>
                  <a:pt x="70" y="181"/>
                  <a:pt x="111" y="134"/>
                </a:cubicBezTo>
                <a:close/>
                <a:moveTo>
                  <a:pt x="42" y="328"/>
                </a:moveTo>
                <a:cubicBezTo>
                  <a:pt x="165" y="328"/>
                  <a:pt x="165" y="328"/>
                  <a:pt x="165" y="328"/>
                </a:cubicBezTo>
                <a:cubicBezTo>
                  <a:pt x="166" y="381"/>
                  <a:pt x="177" y="430"/>
                  <a:pt x="195" y="475"/>
                </a:cubicBezTo>
                <a:cubicBezTo>
                  <a:pt x="169" y="485"/>
                  <a:pt x="145" y="498"/>
                  <a:pt x="123" y="514"/>
                </a:cubicBezTo>
                <a:cubicBezTo>
                  <a:pt x="75" y="466"/>
                  <a:pt x="44" y="401"/>
                  <a:pt x="42" y="328"/>
                </a:cubicBezTo>
                <a:close/>
                <a:moveTo>
                  <a:pt x="513" y="514"/>
                </a:moveTo>
                <a:cubicBezTo>
                  <a:pt x="491" y="498"/>
                  <a:pt x="467" y="485"/>
                  <a:pt x="441" y="475"/>
                </a:cubicBezTo>
                <a:cubicBezTo>
                  <a:pt x="459" y="430"/>
                  <a:pt x="470" y="381"/>
                  <a:pt x="471" y="328"/>
                </a:cubicBezTo>
                <a:cubicBezTo>
                  <a:pt x="594" y="328"/>
                  <a:pt x="594" y="328"/>
                  <a:pt x="594" y="328"/>
                </a:cubicBezTo>
                <a:cubicBezTo>
                  <a:pt x="592" y="401"/>
                  <a:pt x="561" y="466"/>
                  <a:pt x="513" y="514"/>
                </a:cubicBezTo>
                <a:close/>
              </a:path>
            </a:pathLst>
          </a:custGeom>
          <a:solidFill xmlns:a="http://schemas.openxmlformats.org/drawingml/2006/main">
            <a:schemeClr val="bg1">
              <a:lumMod val="50000"/>
            </a:schemeClr>
          </a:solidFill>
          <a:ln xmlns:a="http://schemas.openxmlformats.org/drawingml/2006/main">
            <a:noFill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>
              <a:latin typeface="Lato Light"/>
              <a:ea typeface="Lato Light"/>
              <a:cs typeface="Lato Light"/>
            </a:endParaRPr>
          </a:p>
        </p:txBody>
      </p:sp>
      <p:sp>
        <p:nvSpPr>
          <p:cNvPr id="7" name="Номер слайда 6">
            <a:extLst xmlns:a="http://schemas.openxmlformats.org/drawingml/2006/main">
              <a:ext uri="{FF2B5EF4-FFF2-40B4-BE49-F238E27FC236}">
                <a16:creationId xmlns:a16="http://schemas.microsoft.com/office/drawing/2014/main" id="{EA08EBDD-D3B1-49F6-BC92-38ED9C8340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rPr>
                <a:solidFill>
                  <a:schemeClr val="accent5"/>
                </a:solidFill>
              </a:rPr>
              <a:t>11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71A900A-8BF5-4238-B577-5FBBE4A75C4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735CE154-6330-485C-8E80-D5D601B2BAD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5" name="Рисунок 4">
            <a:extLst xmlns:a="http://schemas.openxmlformats.org/drawingml/2006/main">
              <a:ext uri="{FF2B5EF4-FFF2-40B4-BE49-F238E27FC236}">
                <a16:creationId xmlns:a16="http://schemas.microsoft.com/office/drawing/2014/main" id="{B81528B6-CA31-41D3-86C3-327E28EF020F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/>
      </p:sp>
      <p:sp>
        <p:nvSpPr>
          <p:cNvPr id="6" name="Рисунок 5">
            <a:extLst xmlns:a="http://schemas.openxmlformats.org/drawingml/2006/main">
              <a:ext uri="{FF2B5EF4-FFF2-40B4-BE49-F238E27FC236}">
                <a16:creationId xmlns:a16="http://schemas.microsoft.com/office/drawing/2014/main" id="{7B188587-A119-4DCD-9E44-87DD8E11DB77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/>
      </p:sp>
      <p:sp>
        <p:nvSpPr>
          <p:cNvPr id="55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F83D1BEE-59E5-12AF-CCDA-133537DF56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58AAF70-B76F-49BF-84FD-62CDF111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428625"/>
            <a:ext cx="1047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ДЕМОНСТРАЦИЯ СКВОЗНОГО СЦЕНАРИЯ</a:t>
            </a:r>
          </a:p>
        </p:txBody>
      </p:sp>
      <p:pic>
        <p:nvPic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C763F8E-70A0-414E-95EA-75BEBE8054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bfc7163904b8d"/>
          <a:stretch xmlns:a="http://schemas.openxmlformats.org/drawingml/2006/main"/>
        </p:blipFill>
        <p:spPr>
          <a:xfrm xmlns:a="http://schemas.openxmlformats.org/drawingml/2006/main">
            <a:off x="1603248" y="1571625"/>
            <a:ext cx="3346704" cy="2324100"/>
          </a:xfrm>
          <a:prstGeom xmlns:a="http://schemas.openxmlformats.org/drawingml/2006/main" prst="rect">
            <a:avLst/>
          </a:prstGeom>
        </p:spPr>
      </p:pic>
      <p:pic>
        <p:nvPic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F040AE4-44AA-42C5-813A-51D5BE8ACB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050e8736fc4c9d"/>
          <a:stretch xmlns:a="http://schemas.openxmlformats.org/drawingml/2006/main"/>
        </p:blipFill>
        <p:spPr>
          <a:xfrm xmlns:a="http://schemas.openxmlformats.org/drawingml/2006/main">
            <a:off x="7251573" y="1571625"/>
            <a:ext cx="3346704" cy="2324100"/>
          </a:xfrm>
          <a:prstGeom xmlns:a="http://schemas.openxmlformats.org/drawingml/2006/main" prst="rect">
            <a:avLst/>
          </a:prstGeom>
        </p:spPr>
      </p:pic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2E919EB-3238-4C41-B5D2-51D4D69B8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72125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localhost:3000 · вход в демо с двумя ролями</a:t>
            </a:r>
          </a:p>
          <a:p xmlns:a="http://schemas.openxmlformats.org/drawingml/2006/main">
            <a:pPr>
              <a:defRPr sz="1725" b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README: запуск, проверки и ссылки на документацию</a:t>
            </a:r>
          </a:p>
        </p:txBody>
      </p:sp>
    </p:spTree>
    <p:extLst>
      <p:ext uri="{BB962C8B-B14F-4D97-AF65-F5344CB8AC3E}">
        <p14:creationId xmlns:p14="http://schemas.microsoft.com/office/powerpoint/2010/main" val="1163964322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2026-10-10T17:08:12.7080000Z</dcterms:created>
  <dcterms:modified xsi:type="dcterms:W3CDTF">2026-10-10T17:08:12.7080000Z</dcterms:modified>
</coreProperties>
</file>